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Garet" charset="1" panose="00000000000000000000"/>
      <p:regular r:id="rId21"/>
    </p:embeddedFont>
    <p:embeddedFont>
      <p:font typeface="Garet Bold" charset="1" panose="00000000000000000000"/>
      <p:regular r:id="rId22"/>
    </p:embeddedFont>
    <p:embeddedFont>
      <p:font typeface="Canva Sans" charset="1" panose="020B05030305010401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2" Target="../media/image24.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5.pn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png" Type="http://schemas.openxmlformats.org/officeDocument/2006/relationships/image"/><Relationship Id="rId12" Target="../media/image40.pn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6.pn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3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1.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FD5D5">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7212407">
            <a:off x="6637085" y="795767"/>
            <a:ext cx="6019775" cy="382844"/>
            <a:chOff x="0" y="0"/>
            <a:chExt cx="3488002" cy="221829"/>
          </a:xfrm>
        </p:grpSpPr>
        <p:sp>
          <p:nvSpPr>
            <p:cNvPr name="Freeform 3" id="3"/>
            <p:cNvSpPr/>
            <p:nvPr/>
          </p:nvSpPr>
          <p:spPr>
            <a:xfrm flipH="false" flipV="false" rot="0">
              <a:off x="0" y="0"/>
              <a:ext cx="3488001" cy="221829"/>
            </a:xfrm>
            <a:custGeom>
              <a:avLst/>
              <a:gdLst/>
              <a:ahLst/>
              <a:cxnLst/>
              <a:rect r="r" b="b" t="t" l="l"/>
              <a:pathLst>
                <a:path h="221829" w="3488001">
                  <a:moveTo>
                    <a:pt x="203200" y="0"/>
                  </a:moveTo>
                  <a:lnTo>
                    <a:pt x="3284801" y="0"/>
                  </a:lnTo>
                  <a:lnTo>
                    <a:pt x="3488001" y="221829"/>
                  </a:lnTo>
                  <a:lnTo>
                    <a:pt x="0" y="221829"/>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4" id="4"/>
            <p:cNvSpPr txBox="true"/>
            <p:nvPr/>
          </p:nvSpPr>
          <p:spPr>
            <a:xfrm>
              <a:off x="127000" y="-38100"/>
              <a:ext cx="3234002" cy="25992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386738" y="6287544"/>
            <a:ext cx="12852557" cy="4883972"/>
          </a:xfrm>
          <a:custGeom>
            <a:avLst/>
            <a:gdLst/>
            <a:ahLst/>
            <a:cxnLst/>
            <a:rect r="r" b="b" t="t" l="l"/>
            <a:pathLst>
              <a:path h="4883972" w="12852557">
                <a:moveTo>
                  <a:pt x="0" y="0"/>
                </a:moveTo>
                <a:lnTo>
                  <a:pt x="12852558" y="0"/>
                </a:lnTo>
                <a:lnTo>
                  <a:pt x="12852558" y="4883972"/>
                </a:lnTo>
                <a:lnTo>
                  <a:pt x="0" y="4883972"/>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759692">
            <a:off x="10040806" y="6847769"/>
            <a:ext cx="172542" cy="4961454"/>
            <a:chOff x="0" y="0"/>
            <a:chExt cx="45443" cy="1306720"/>
          </a:xfrm>
        </p:grpSpPr>
        <p:sp>
          <p:nvSpPr>
            <p:cNvPr name="Freeform 7" id="7"/>
            <p:cNvSpPr/>
            <p:nvPr/>
          </p:nvSpPr>
          <p:spPr>
            <a:xfrm flipH="false" flipV="false" rot="0">
              <a:off x="0" y="0"/>
              <a:ext cx="45443" cy="1306720"/>
            </a:xfrm>
            <a:custGeom>
              <a:avLst/>
              <a:gdLst/>
              <a:ahLst/>
              <a:cxnLst/>
              <a:rect r="r" b="b" t="t" l="l"/>
              <a:pathLst>
                <a:path h="1306720" w="45443">
                  <a:moveTo>
                    <a:pt x="0" y="0"/>
                  </a:moveTo>
                  <a:lnTo>
                    <a:pt x="45443" y="0"/>
                  </a:lnTo>
                  <a:lnTo>
                    <a:pt x="45443" y="1306720"/>
                  </a:lnTo>
                  <a:lnTo>
                    <a:pt x="0" y="1306720"/>
                  </a:lnTo>
                  <a:close/>
                </a:path>
              </a:pathLst>
            </a:custGeom>
            <a:gradFill rotWithShape="true">
              <a:gsLst>
                <a:gs pos="0">
                  <a:srgbClr val="1679AB">
                    <a:alpha val="100000"/>
                  </a:srgbClr>
                </a:gs>
                <a:gs pos="100000">
                  <a:srgbClr val="003D5B">
                    <a:alpha val="100000"/>
                  </a:srgbClr>
                </a:gs>
              </a:gsLst>
              <a:lin ang="0"/>
            </a:gradFill>
          </p:spPr>
        </p:sp>
        <p:sp>
          <p:nvSpPr>
            <p:cNvPr name="TextBox 8" id="8"/>
            <p:cNvSpPr txBox="true"/>
            <p:nvPr/>
          </p:nvSpPr>
          <p:spPr>
            <a:xfrm>
              <a:off x="0" y="-38100"/>
              <a:ext cx="45443" cy="1344820"/>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9630929" y="7878741"/>
            <a:ext cx="3086100" cy="2700338"/>
            <a:chOff x="0" y="0"/>
            <a:chExt cx="812800" cy="711200"/>
          </a:xfrm>
        </p:grpSpPr>
        <p:sp>
          <p:nvSpPr>
            <p:cNvPr name="Freeform 10" id="10"/>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11" id="11"/>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3602365">
            <a:off x="5163771" y="318096"/>
            <a:ext cx="7407773" cy="212635"/>
            <a:chOff x="0" y="0"/>
            <a:chExt cx="21237181" cy="609600"/>
          </a:xfrm>
        </p:grpSpPr>
        <p:sp>
          <p:nvSpPr>
            <p:cNvPr name="Freeform 13" id="13"/>
            <p:cNvSpPr/>
            <p:nvPr/>
          </p:nvSpPr>
          <p:spPr>
            <a:xfrm flipH="false" flipV="false" rot="0">
              <a:off x="0" y="0"/>
              <a:ext cx="21237181" cy="609600"/>
            </a:xfrm>
            <a:custGeom>
              <a:avLst/>
              <a:gdLst/>
              <a:ahLst/>
              <a:cxnLst/>
              <a:rect r="r" b="b" t="t" l="l"/>
              <a:pathLst>
                <a:path h="609600" w="21237181">
                  <a:moveTo>
                    <a:pt x="203200" y="0"/>
                  </a:moveTo>
                  <a:lnTo>
                    <a:pt x="21033981" y="0"/>
                  </a:lnTo>
                  <a:lnTo>
                    <a:pt x="21237181" y="609600"/>
                  </a:lnTo>
                  <a:lnTo>
                    <a:pt x="0" y="609600"/>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14" id="14"/>
            <p:cNvSpPr txBox="true"/>
            <p:nvPr/>
          </p:nvSpPr>
          <p:spPr>
            <a:xfrm>
              <a:off x="127000" y="-38100"/>
              <a:ext cx="20983181" cy="6477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5" id="15"/>
          <p:cNvGrpSpPr/>
          <p:nvPr/>
        </p:nvGrpSpPr>
        <p:grpSpPr>
          <a:xfrm rot="0">
            <a:off x="10236072" y="22341"/>
            <a:ext cx="8051928" cy="10376743"/>
            <a:chOff x="0" y="0"/>
            <a:chExt cx="1202271" cy="1549400"/>
          </a:xfrm>
        </p:grpSpPr>
        <p:sp>
          <p:nvSpPr>
            <p:cNvPr name="Freeform 16" id="16"/>
            <p:cNvSpPr/>
            <p:nvPr/>
          </p:nvSpPr>
          <p:spPr>
            <a:xfrm flipH="false" flipV="false" rot="0">
              <a:off x="0" y="0"/>
              <a:ext cx="1202309" cy="1549400"/>
            </a:xfrm>
            <a:custGeom>
              <a:avLst/>
              <a:gdLst/>
              <a:ahLst/>
              <a:cxnLst/>
              <a:rect r="r" b="b" t="t" l="l"/>
              <a:pathLst>
                <a:path h="1549400" w="1202309">
                  <a:moveTo>
                    <a:pt x="313309" y="0"/>
                  </a:moveTo>
                  <a:cubicBezTo>
                    <a:pt x="211709" y="172212"/>
                    <a:pt x="6731" y="518160"/>
                    <a:pt x="0" y="524891"/>
                  </a:cubicBezTo>
                  <a:lnTo>
                    <a:pt x="601091" y="1549400"/>
                  </a:lnTo>
                  <a:lnTo>
                    <a:pt x="1202309" y="1549400"/>
                  </a:lnTo>
                  <a:lnTo>
                    <a:pt x="1202309" y="0"/>
                  </a:lnTo>
                  <a:close/>
                </a:path>
              </a:pathLst>
            </a:custGeom>
            <a:blipFill>
              <a:blip r:embed="rId4"/>
              <a:stretch>
                <a:fillRect l="-2111" t="0" r="-2111" b="0"/>
              </a:stretch>
            </a:blipFill>
          </p:spPr>
        </p:sp>
      </p:grpSp>
      <p:grpSp>
        <p:nvGrpSpPr>
          <p:cNvPr name="Group 17" id="17"/>
          <p:cNvGrpSpPr/>
          <p:nvPr/>
        </p:nvGrpSpPr>
        <p:grpSpPr>
          <a:xfrm rot="-7212407">
            <a:off x="7949338" y="7980491"/>
            <a:ext cx="9204942" cy="1052080"/>
            <a:chOff x="0" y="0"/>
            <a:chExt cx="5333563" cy="609600"/>
          </a:xfrm>
        </p:grpSpPr>
        <p:sp>
          <p:nvSpPr>
            <p:cNvPr name="Freeform 18" id="18"/>
            <p:cNvSpPr/>
            <p:nvPr/>
          </p:nvSpPr>
          <p:spPr>
            <a:xfrm flipH="false" flipV="false" rot="0">
              <a:off x="0" y="0"/>
              <a:ext cx="5333563" cy="609600"/>
            </a:xfrm>
            <a:custGeom>
              <a:avLst/>
              <a:gdLst/>
              <a:ahLst/>
              <a:cxnLst/>
              <a:rect r="r" b="b" t="t" l="l"/>
              <a:pathLst>
                <a:path h="609600" w="5333563">
                  <a:moveTo>
                    <a:pt x="203200" y="0"/>
                  </a:moveTo>
                  <a:lnTo>
                    <a:pt x="5130363" y="0"/>
                  </a:lnTo>
                  <a:lnTo>
                    <a:pt x="5333563" y="609600"/>
                  </a:lnTo>
                  <a:lnTo>
                    <a:pt x="0" y="609600"/>
                  </a:lnTo>
                  <a:lnTo>
                    <a:pt x="203200" y="0"/>
                  </a:lnTo>
                  <a:close/>
                </a:path>
              </a:pathLst>
            </a:custGeom>
            <a:solidFill>
              <a:srgbClr val="102C57"/>
            </a:solidFill>
          </p:spPr>
        </p:sp>
        <p:sp>
          <p:nvSpPr>
            <p:cNvPr name="TextBox 19" id="19"/>
            <p:cNvSpPr txBox="true"/>
            <p:nvPr/>
          </p:nvSpPr>
          <p:spPr>
            <a:xfrm>
              <a:off x="127000" y="-38100"/>
              <a:ext cx="5079563" cy="6477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10800000">
            <a:off x="9144000" y="-432682"/>
            <a:ext cx="3481951" cy="2865461"/>
            <a:chOff x="0" y="0"/>
            <a:chExt cx="812800" cy="668891"/>
          </a:xfrm>
        </p:grpSpPr>
        <p:sp>
          <p:nvSpPr>
            <p:cNvPr name="Freeform 21" id="21"/>
            <p:cNvSpPr/>
            <p:nvPr/>
          </p:nvSpPr>
          <p:spPr>
            <a:xfrm flipH="false" flipV="false" rot="0">
              <a:off x="0" y="0"/>
              <a:ext cx="812800" cy="668891"/>
            </a:xfrm>
            <a:custGeom>
              <a:avLst/>
              <a:gdLst/>
              <a:ahLst/>
              <a:cxnLst/>
              <a:rect r="r" b="b" t="t" l="l"/>
              <a:pathLst>
                <a:path h="668891" w="812800">
                  <a:moveTo>
                    <a:pt x="406400" y="0"/>
                  </a:moveTo>
                  <a:lnTo>
                    <a:pt x="812800" y="668891"/>
                  </a:lnTo>
                  <a:lnTo>
                    <a:pt x="0" y="668891"/>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22" id="22"/>
            <p:cNvSpPr txBox="true"/>
            <p:nvPr/>
          </p:nvSpPr>
          <p:spPr>
            <a:xfrm>
              <a:off x="127000" y="272457"/>
              <a:ext cx="558800" cy="348657"/>
            </a:xfrm>
            <a:prstGeom prst="rect">
              <a:avLst/>
            </a:prstGeom>
          </p:spPr>
          <p:txBody>
            <a:bodyPr anchor="ctr" rtlCol="false" tIns="50800" lIns="50800" bIns="50800" rIns="50800"/>
            <a:lstStyle/>
            <a:p>
              <a:pPr algn="ctr" marL="0" indent="0" lvl="0">
                <a:lnSpc>
                  <a:spcPts val="2659"/>
                </a:lnSpc>
              </a:pPr>
            </a:p>
          </p:txBody>
        </p:sp>
      </p:grpSp>
      <p:grpSp>
        <p:nvGrpSpPr>
          <p:cNvPr name="Group 23" id="23"/>
          <p:cNvGrpSpPr/>
          <p:nvPr/>
        </p:nvGrpSpPr>
        <p:grpSpPr>
          <a:xfrm rot="0">
            <a:off x="3859873" y="9737304"/>
            <a:ext cx="4359337" cy="975659"/>
            <a:chOff x="0" y="0"/>
            <a:chExt cx="1790672" cy="400769"/>
          </a:xfrm>
        </p:grpSpPr>
        <p:sp>
          <p:nvSpPr>
            <p:cNvPr name="Freeform 24" id="24"/>
            <p:cNvSpPr/>
            <p:nvPr/>
          </p:nvSpPr>
          <p:spPr>
            <a:xfrm flipH="false" flipV="false" rot="0">
              <a:off x="0" y="0"/>
              <a:ext cx="1790672" cy="400769"/>
            </a:xfrm>
            <a:custGeom>
              <a:avLst/>
              <a:gdLst/>
              <a:ahLst/>
              <a:cxnLst/>
              <a:rect r="r" b="b" t="t" l="l"/>
              <a:pathLst>
                <a:path h="400769" w="1790672">
                  <a:moveTo>
                    <a:pt x="203200" y="0"/>
                  </a:moveTo>
                  <a:lnTo>
                    <a:pt x="1790672" y="0"/>
                  </a:lnTo>
                  <a:lnTo>
                    <a:pt x="1587472" y="400769"/>
                  </a:lnTo>
                  <a:lnTo>
                    <a:pt x="0" y="400769"/>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25" id="25"/>
            <p:cNvSpPr txBox="true"/>
            <p:nvPr/>
          </p:nvSpPr>
          <p:spPr>
            <a:xfrm>
              <a:off x="101600" y="-38100"/>
              <a:ext cx="1587472" cy="438869"/>
            </a:xfrm>
            <a:prstGeom prst="rect">
              <a:avLst/>
            </a:prstGeom>
          </p:spPr>
          <p:txBody>
            <a:bodyPr anchor="ctr" rtlCol="false" tIns="50800" lIns="50800" bIns="50800" rIns="50800"/>
            <a:lstStyle/>
            <a:p>
              <a:pPr algn="ctr" marL="0" indent="0" lvl="0">
                <a:lnSpc>
                  <a:spcPts val="2659"/>
                </a:lnSpc>
              </a:pPr>
            </a:p>
          </p:txBody>
        </p:sp>
      </p:grpSp>
      <p:grpSp>
        <p:nvGrpSpPr>
          <p:cNvPr name="Group 26" id="26"/>
          <p:cNvGrpSpPr/>
          <p:nvPr/>
        </p:nvGrpSpPr>
        <p:grpSpPr>
          <a:xfrm rot="0">
            <a:off x="-2056786" y="9737304"/>
            <a:ext cx="6651766" cy="975659"/>
            <a:chOff x="0" y="0"/>
            <a:chExt cx="2732326" cy="400769"/>
          </a:xfrm>
        </p:grpSpPr>
        <p:sp>
          <p:nvSpPr>
            <p:cNvPr name="Freeform 27" id="27"/>
            <p:cNvSpPr/>
            <p:nvPr/>
          </p:nvSpPr>
          <p:spPr>
            <a:xfrm flipH="false" flipV="false" rot="0">
              <a:off x="0" y="0"/>
              <a:ext cx="2732326" cy="400769"/>
            </a:xfrm>
            <a:custGeom>
              <a:avLst/>
              <a:gdLst/>
              <a:ahLst/>
              <a:cxnLst/>
              <a:rect r="r" b="b" t="t" l="l"/>
              <a:pathLst>
                <a:path h="400769" w="2732326">
                  <a:moveTo>
                    <a:pt x="203200" y="0"/>
                  </a:moveTo>
                  <a:lnTo>
                    <a:pt x="2732326" y="0"/>
                  </a:lnTo>
                  <a:lnTo>
                    <a:pt x="2529126" y="400769"/>
                  </a:lnTo>
                  <a:lnTo>
                    <a:pt x="0" y="400769"/>
                  </a:lnTo>
                  <a:lnTo>
                    <a:pt x="203200" y="0"/>
                  </a:lnTo>
                  <a:close/>
                </a:path>
              </a:pathLst>
            </a:custGeom>
            <a:gradFill rotWithShape="true">
              <a:gsLst>
                <a:gs pos="0">
                  <a:srgbClr val="162F56">
                    <a:alpha val="100000"/>
                  </a:srgbClr>
                </a:gs>
                <a:gs pos="100000">
                  <a:srgbClr val="18407D">
                    <a:alpha val="100000"/>
                  </a:srgbClr>
                </a:gs>
              </a:gsLst>
              <a:lin ang="0"/>
            </a:gradFill>
          </p:spPr>
        </p:sp>
        <p:sp>
          <p:nvSpPr>
            <p:cNvPr name="TextBox 28" id="28"/>
            <p:cNvSpPr txBox="true"/>
            <p:nvPr/>
          </p:nvSpPr>
          <p:spPr>
            <a:xfrm>
              <a:off x="101600" y="-38100"/>
              <a:ext cx="2529126" cy="438869"/>
            </a:xfrm>
            <a:prstGeom prst="rect">
              <a:avLst/>
            </a:prstGeom>
          </p:spPr>
          <p:txBody>
            <a:bodyPr anchor="ctr" rtlCol="false" tIns="50800" lIns="50800" bIns="50800" rIns="50800"/>
            <a:lstStyle/>
            <a:p>
              <a:pPr algn="ctr" marL="0" indent="0" lvl="0">
                <a:lnSpc>
                  <a:spcPts val="2659"/>
                </a:lnSpc>
              </a:pPr>
            </a:p>
          </p:txBody>
        </p:sp>
      </p:grpSp>
      <p:sp>
        <p:nvSpPr>
          <p:cNvPr name="Freeform 29" id="29"/>
          <p:cNvSpPr/>
          <p:nvPr/>
        </p:nvSpPr>
        <p:spPr>
          <a:xfrm flipH="false" flipV="false" rot="0">
            <a:off x="7255342" y="1028700"/>
            <a:ext cx="963867" cy="279521"/>
          </a:xfrm>
          <a:custGeom>
            <a:avLst/>
            <a:gdLst/>
            <a:ahLst/>
            <a:cxnLst/>
            <a:rect r="r" b="b" t="t" l="l"/>
            <a:pathLst>
              <a:path h="279521" w="963867">
                <a:moveTo>
                  <a:pt x="0" y="0"/>
                </a:moveTo>
                <a:lnTo>
                  <a:pt x="963867" y="0"/>
                </a:lnTo>
                <a:lnTo>
                  <a:pt x="963867" y="279521"/>
                </a:lnTo>
                <a:lnTo>
                  <a:pt x="0" y="2795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0" id="30"/>
          <p:cNvSpPr/>
          <p:nvPr/>
        </p:nvSpPr>
        <p:spPr>
          <a:xfrm flipH="true" flipV="false" rot="0">
            <a:off x="8817725" y="7293390"/>
            <a:ext cx="963867" cy="279521"/>
          </a:xfrm>
          <a:custGeom>
            <a:avLst/>
            <a:gdLst/>
            <a:ahLst/>
            <a:cxnLst/>
            <a:rect r="r" b="b" t="t" l="l"/>
            <a:pathLst>
              <a:path h="279521" w="963867">
                <a:moveTo>
                  <a:pt x="963867" y="0"/>
                </a:moveTo>
                <a:lnTo>
                  <a:pt x="0" y="0"/>
                </a:lnTo>
                <a:lnTo>
                  <a:pt x="0" y="279521"/>
                </a:lnTo>
                <a:lnTo>
                  <a:pt x="963867" y="279521"/>
                </a:lnTo>
                <a:lnTo>
                  <a:pt x="963867"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1" id="31"/>
          <p:cNvSpPr/>
          <p:nvPr/>
        </p:nvSpPr>
        <p:spPr>
          <a:xfrm flipH="false" flipV="true" rot="-2074350">
            <a:off x="-2678913" y="-934026"/>
            <a:ext cx="8263905" cy="4404065"/>
          </a:xfrm>
          <a:custGeom>
            <a:avLst/>
            <a:gdLst/>
            <a:ahLst/>
            <a:cxnLst/>
            <a:rect r="r" b="b" t="t" l="l"/>
            <a:pathLst>
              <a:path h="4404065" w="8263905">
                <a:moveTo>
                  <a:pt x="0" y="4404065"/>
                </a:moveTo>
                <a:lnTo>
                  <a:pt x="8263905" y="4404065"/>
                </a:lnTo>
                <a:lnTo>
                  <a:pt x="8263905" y="0"/>
                </a:lnTo>
                <a:lnTo>
                  <a:pt x="0" y="0"/>
                </a:lnTo>
                <a:lnTo>
                  <a:pt x="0" y="4404065"/>
                </a:lnTo>
                <a:close/>
              </a:path>
            </a:pathLst>
          </a:custGeom>
          <a:blipFill>
            <a:blip r:embed="rId7">
              <a:alphaModFix amt="4000"/>
              <a:extLst>
                <a:ext uri="{96DAC541-7B7A-43D3-8B79-37D633B846F1}">
                  <asvg:svgBlip xmlns:asvg="http://schemas.microsoft.com/office/drawing/2016/SVG/main" r:embed="rId8"/>
                </a:ext>
              </a:extLst>
            </a:blip>
            <a:stretch>
              <a:fillRect l="0" t="0" r="0" b="-45188"/>
            </a:stretch>
          </a:blipFill>
        </p:spPr>
      </p:sp>
      <p:sp>
        <p:nvSpPr>
          <p:cNvPr name="Freeform 32" id="32"/>
          <p:cNvSpPr/>
          <p:nvPr/>
        </p:nvSpPr>
        <p:spPr>
          <a:xfrm flipH="false" flipV="false" rot="0">
            <a:off x="855319" y="894878"/>
            <a:ext cx="646329" cy="465357"/>
          </a:xfrm>
          <a:custGeom>
            <a:avLst/>
            <a:gdLst/>
            <a:ahLst/>
            <a:cxnLst/>
            <a:rect r="r" b="b" t="t" l="l"/>
            <a:pathLst>
              <a:path h="465357" w="646329">
                <a:moveTo>
                  <a:pt x="0" y="0"/>
                </a:moveTo>
                <a:lnTo>
                  <a:pt x="646329" y="0"/>
                </a:lnTo>
                <a:lnTo>
                  <a:pt x="646329" y="465356"/>
                </a:lnTo>
                <a:lnTo>
                  <a:pt x="0" y="46535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3" id="33"/>
          <p:cNvSpPr txBox="true"/>
          <p:nvPr/>
        </p:nvSpPr>
        <p:spPr>
          <a:xfrm rot="0">
            <a:off x="1620643" y="847253"/>
            <a:ext cx="2239230" cy="488316"/>
          </a:xfrm>
          <a:prstGeom prst="rect">
            <a:avLst/>
          </a:prstGeom>
        </p:spPr>
        <p:txBody>
          <a:bodyPr anchor="t" rtlCol="false" tIns="0" lIns="0" bIns="0" rIns="0">
            <a:spAutoFit/>
          </a:bodyPr>
          <a:lstStyle/>
          <a:p>
            <a:pPr algn="l" marL="0" indent="0" lvl="0">
              <a:lnSpc>
                <a:spcPts val="4059"/>
              </a:lnSpc>
              <a:spcBef>
                <a:spcPct val="0"/>
              </a:spcBef>
            </a:pPr>
            <a:r>
              <a:rPr lang="en-US" sz="2899">
                <a:solidFill>
                  <a:srgbClr val="000000"/>
                </a:solidFill>
                <a:latin typeface="Garet"/>
                <a:ea typeface="Garet"/>
                <a:cs typeface="Garet"/>
                <a:sym typeface="Garet"/>
              </a:rPr>
              <a:t>REMS</a:t>
            </a:r>
          </a:p>
        </p:txBody>
      </p:sp>
      <p:sp>
        <p:nvSpPr>
          <p:cNvPr name="TextBox 34" id="34"/>
          <p:cNvSpPr txBox="true"/>
          <p:nvPr/>
        </p:nvSpPr>
        <p:spPr>
          <a:xfrm rot="0">
            <a:off x="798179" y="1435479"/>
            <a:ext cx="10011324" cy="3316318"/>
          </a:xfrm>
          <a:prstGeom prst="rect">
            <a:avLst/>
          </a:prstGeom>
        </p:spPr>
        <p:txBody>
          <a:bodyPr anchor="t" rtlCol="false" tIns="0" lIns="0" bIns="0" rIns="0">
            <a:spAutoFit/>
          </a:bodyPr>
          <a:lstStyle/>
          <a:p>
            <a:pPr algn="l" marL="0" indent="0" lvl="0">
              <a:lnSpc>
                <a:spcPts val="8702"/>
              </a:lnSpc>
            </a:pPr>
            <a:r>
              <a:rPr lang="en-US" b="true" sz="7075" spc="-360">
                <a:solidFill>
                  <a:srgbClr val="102C57"/>
                </a:solidFill>
                <a:latin typeface="Garet Bold"/>
                <a:ea typeface="Garet Bold"/>
                <a:cs typeface="Garet Bold"/>
                <a:sym typeface="Garet Bold"/>
              </a:rPr>
              <a:t>Real Estate Management System (REMS)</a:t>
            </a:r>
          </a:p>
        </p:txBody>
      </p:sp>
      <p:sp>
        <p:nvSpPr>
          <p:cNvPr name="TextBox 35" id="35"/>
          <p:cNvSpPr txBox="true"/>
          <p:nvPr/>
        </p:nvSpPr>
        <p:spPr>
          <a:xfrm rot="0">
            <a:off x="855319" y="4854507"/>
            <a:ext cx="8926272" cy="1127248"/>
          </a:xfrm>
          <a:prstGeom prst="rect">
            <a:avLst/>
          </a:prstGeom>
        </p:spPr>
        <p:txBody>
          <a:bodyPr anchor="t" rtlCol="false" tIns="0" lIns="0" bIns="0" rIns="0">
            <a:spAutoFit/>
          </a:bodyPr>
          <a:lstStyle/>
          <a:p>
            <a:pPr algn="l" marL="0" indent="0" lvl="0">
              <a:lnSpc>
                <a:spcPts val="4543"/>
              </a:lnSpc>
              <a:spcBef>
                <a:spcPct val="0"/>
              </a:spcBef>
            </a:pPr>
            <a:r>
              <a:rPr lang="en-US" sz="3245">
                <a:solidFill>
                  <a:srgbClr val="000000"/>
                </a:solidFill>
                <a:latin typeface="Garet"/>
                <a:ea typeface="Garet"/>
                <a:cs typeface="Garet"/>
                <a:sym typeface="Garet"/>
              </a:rPr>
              <a:t>A Web-Based Platform for Streamlined Property Management</a:t>
            </a:r>
          </a:p>
        </p:txBody>
      </p:sp>
      <p:sp>
        <p:nvSpPr>
          <p:cNvPr name="TextBox 36" id="36"/>
          <p:cNvSpPr txBox="true"/>
          <p:nvPr/>
        </p:nvSpPr>
        <p:spPr>
          <a:xfrm rot="0">
            <a:off x="983433" y="6317948"/>
            <a:ext cx="4629830" cy="555054"/>
          </a:xfrm>
          <a:prstGeom prst="rect">
            <a:avLst/>
          </a:prstGeom>
        </p:spPr>
        <p:txBody>
          <a:bodyPr anchor="t" rtlCol="false" tIns="0" lIns="0" bIns="0" rIns="0">
            <a:spAutoFit/>
          </a:bodyPr>
          <a:lstStyle/>
          <a:p>
            <a:pPr algn="l" marL="0" indent="0" lvl="0">
              <a:lnSpc>
                <a:spcPts val="4581"/>
              </a:lnSpc>
              <a:spcBef>
                <a:spcPct val="0"/>
              </a:spcBef>
            </a:pPr>
            <a:r>
              <a:rPr lang="en-US" b="true" sz="3272">
                <a:solidFill>
                  <a:srgbClr val="000000"/>
                </a:solidFill>
                <a:latin typeface="Garet Bold"/>
                <a:ea typeface="Garet Bold"/>
                <a:cs typeface="Garet Bold"/>
                <a:sym typeface="Garet Bold"/>
              </a:rPr>
              <a:t>PROJECT PRESENTER</a:t>
            </a:r>
          </a:p>
        </p:txBody>
      </p:sp>
      <p:sp>
        <p:nvSpPr>
          <p:cNvPr name="TextBox 37" id="37"/>
          <p:cNvSpPr txBox="true"/>
          <p:nvPr/>
        </p:nvSpPr>
        <p:spPr>
          <a:xfrm rot="0">
            <a:off x="855319" y="7199671"/>
            <a:ext cx="7962405" cy="1508406"/>
          </a:xfrm>
          <a:prstGeom prst="rect">
            <a:avLst/>
          </a:prstGeom>
        </p:spPr>
        <p:txBody>
          <a:bodyPr anchor="t" rtlCol="false" tIns="0" lIns="0" bIns="0" rIns="0">
            <a:spAutoFit/>
          </a:bodyPr>
          <a:lstStyle/>
          <a:p>
            <a:pPr algn="l" marL="618324" indent="-309162" lvl="1">
              <a:lnSpc>
                <a:spcPts val="4009"/>
              </a:lnSpc>
              <a:buFont typeface="Arial"/>
              <a:buChar char="•"/>
            </a:pPr>
            <a:r>
              <a:rPr lang="en-US" sz="2863">
                <a:solidFill>
                  <a:srgbClr val="000000"/>
                </a:solidFill>
                <a:latin typeface="Garet"/>
                <a:ea typeface="Garet"/>
                <a:cs typeface="Garet"/>
                <a:sym typeface="Garet"/>
              </a:rPr>
              <a:t> B</a:t>
            </a:r>
            <a:r>
              <a:rPr lang="en-US" sz="2863">
                <a:solidFill>
                  <a:srgbClr val="000000"/>
                </a:solidFill>
                <a:latin typeface="Garet"/>
                <a:ea typeface="Garet"/>
                <a:cs typeface="Garet"/>
                <a:sym typeface="Garet"/>
              </a:rPr>
              <a:t>alayet Hosain (212010074)</a:t>
            </a:r>
          </a:p>
          <a:p>
            <a:pPr algn="l" marL="618324" indent="-309162" lvl="1">
              <a:lnSpc>
                <a:spcPts val="4009"/>
              </a:lnSpc>
              <a:buFont typeface="Arial"/>
              <a:buChar char="•"/>
            </a:pPr>
            <a:r>
              <a:rPr lang="en-US" sz="2863">
                <a:solidFill>
                  <a:srgbClr val="000000"/>
                </a:solidFill>
                <a:latin typeface="Garet"/>
                <a:ea typeface="Garet"/>
                <a:cs typeface="Garet"/>
                <a:sym typeface="Garet"/>
              </a:rPr>
              <a:t> Jahanur Islam (212010081)</a:t>
            </a:r>
          </a:p>
          <a:p>
            <a:pPr algn="l" marL="618324" indent="-309162" lvl="1">
              <a:lnSpc>
                <a:spcPts val="4009"/>
              </a:lnSpc>
              <a:buFont typeface="Arial"/>
              <a:buChar char="•"/>
            </a:pPr>
            <a:r>
              <a:rPr lang="en-US" sz="2863">
                <a:solidFill>
                  <a:srgbClr val="000000"/>
                </a:solidFill>
                <a:latin typeface="Garet"/>
                <a:ea typeface="Garet"/>
                <a:cs typeface="Garet"/>
                <a:sym typeface="Garet"/>
              </a:rPr>
              <a:t> Rajesh Barua   (212010080)</a:t>
            </a:r>
          </a:p>
        </p:txBody>
      </p:sp>
      <p:grpSp>
        <p:nvGrpSpPr>
          <p:cNvPr name="Group 38" id="38"/>
          <p:cNvGrpSpPr/>
          <p:nvPr/>
        </p:nvGrpSpPr>
        <p:grpSpPr>
          <a:xfrm rot="-7212407">
            <a:off x="8093367" y="8099810"/>
            <a:ext cx="6963859" cy="212635"/>
            <a:chOff x="0" y="0"/>
            <a:chExt cx="19964535" cy="609600"/>
          </a:xfrm>
        </p:grpSpPr>
        <p:sp>
          <p:nvSpPr>
            <p:cNvPr name="Freeform 39" id="39"/>
            <p:cNvSpPr/>
            <p:nvPr/>
          </p:nvSpPr>
          <p:spPr>
            <a:xfrm flipH="false" flipV="false" rot="0">
              <a:off x="0" y="0"/>
              <a:ext cx="19964535" cy="609600"/>
            </a:xfrm>
            <a:custGeom>
              <a:avLst/>
              <a:gdLst/>
              <a:ahLst/>
              <a:cxnLst/>
              <a:rect r="r" b="b" t="t" l="l"/>
              <a:pathLst>
                <a:path h="609600" w="19964535">
                  <a:moveTo>
                    <a:pt x="203200" y="0"/>
                  </a:moveTo>
                  <a:lnTo>
                    <a:pt x="19761335" y="0"/>
                  </a:lnTo>
                  <a:lnTo>
                    <a:pt x="19964535" y="609600"/>
                  </a:lnTo>
                  <a:lnTo>
                    <a:pt x="0" y="609600"/>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40" id="40"/>
            <p:cNvSpPr txBox="true"/>
            <p:nvPr/>
          </p:nvSpPr>
          <p:spPr>
            <a:xfrm>
              <a:off x="127000" y="-38100"/>
              <a:ext cx="19710535" cy="647700"/>
            </a:xfrm>
            <a:prstGeom prst="rect">
              <a:avLst/>
            </a:prstGeom>
          </p:spPr>
          <p:txBody>
            <a:bodyPr anchor="ctr" rtlCol="false" tIns="50800" lIns="50800" bIns="50800" rIns="50800"/>
            <a:lstStyle/>
            <a:p>
              <a:pPr algn="ctr" marL="0" indent="0" lvl="0">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FD5D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1289532">
            <a:off x="2681354" y="5821553"/>
            <a:ext cx="9566967" cy="5098503"/>
          </a:xfrm>
          <a:custGeom>
            <a:avLst/>
            <a:gdLst/>
            <a:ahLst/>
            <a:cxnLst/>
            <a:rect r="r" b="b" t="t" l="l"/>
            <a:pathLst>
              <a:path h="5098503" w="9566967">
                <a:moveTo>
                  <a:pt x="9566966" y="0"/>
                </a:moveTo>
                <a:lnTo>
                  <a:pt x="0" y="0"/>
                </a:lnTo>
                <a:lnTo>
                  <a:pt x="0" y="5098503"/>
                </a:lnTo>
                <a:lnTo>
                  <a:pt x="9566966" y="5098503"/>
                </a:lnTo>
                <a:lnTo>
                  <a:pt x="9566966" y="0"/>
                </a:lnTo>
                <a:close/>
              </a:path>
            </a:pathLst>
          </a:custGeom>
          <a:blipFill>
            <a:blip r:embed="rId2">
              <a:alphaModFix amt="4000"/>
              <a:extLst>
                <a:ext uri="{96DAC541-7B7A-43D3-8B79-37D633B846F1}">
                  <asvg:svgBlip xmlns:asvg="http://schemas.microsoft.com/office/drawing/2016/SVG/main" r:embed="rId3"/>
                </a:ext>
              </a:extLst>
            </a:blip>
            <a:stretch>
              <a:fillRect l="0" t="0" r="0" b="-45188"/>
            </a:stretch>
          </a:blipFill>
        </p:spPr>
      </p:sp>
      <p:grpSp>
        <p:nvGrpSpPr>
          <p:cNvPr name="Group 3" id="3"/>
          <p:cNvGrpSpPr/>
          <p:nvPr/>
        </p:nvGrpSpPr>
        <p:grpSpPr>
          <a:xfrm rot="0">
            <a:off x="11467265" y="0"/>
            <a:ext cx="6820735" cy="10287000"/>
            <a:chOff x="0" y="0"/>
            <a:chExt cx="9094313" cy="13716000"/>
          </a:xfrm>
        </p:grpSpPr>
        <p:pic>
          <p:nvPicPr>
            <p:cNvPr name="Picture 4" id="4"/>
            <p:cNvPicPr>
              <a:picLocks noChangeAspect="true"/>
            </p:cNvPicPr>
            <p:nvPr/>
          </p:nvPicPr>
          <p:blipFill>
            <a:blip r:embed="rId4"/>
            <a:srcRect l="794" t="0" r="794" b="0"/>
            <a:stretch>
              <a:fillRect/>
            </a:stretch>
          </p:blipFill>
          <p:spPr>
            <a:xfrm flipH="false" flipV="false">
              <a:off x="0" y="0"/>
              <a:ext cx="9094313" cy="13716000"/>
            </a:xfrm>
            <a:prstGeom prst="rect">
              <a:avLst/>
            </a:prstGeom>
          </p:spPr>
        </p:pic>
      </p:grpSp>
      <p:grpSp>
        <p:nvGrpSpPr>
          <p:cNvPr name="Group 5" id="5"/>
          <p:cNvGrpSpPr/>
          <p:nvPr/>
        </p:nvGrpSpPr>
        <p:grpSpPr>
          <a:xfrm rot="0">
            <a:off x="6751276" y="3538633"/>
            <a:ext cx="10809840" cy="9458610"/>
            <a:chOff x="0" y="0"/>
            <a:chExt cx="812800" cy="711200"/>
          </a:xfrm>
        </p:grpSpPr>
        <p:sp>
          <p:nvSpPr>
            <p:cNvPr name="Freeform 6" id="6"/>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7" id="7"/>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10800000">
            <a:off x="8531712" y="-187385"/>
            <a:ext cx="5765275" cy="5044616"/>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10" id="10"/>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407538" y="2487978"/>
            <a:ext cx="9801353" cy="6211456"/>
          </a:xfrm>
          <a:prstGeom prst="rect">
            <a:avLst/>
          </a:prstGeom>
        </p:spPr>
        <p:txBody>
          <a:bodyPr anchor="t" rtlCol="false" tIns="0" lIns="0" bIns="0" rIns="0">
            <a:spAutoFit/>
          </a:bodyPr>
          <a:lstStyle/>
          <a:p>
            <a:pPr algn="just" marL="0" indent="0" lvl="0">
              <a:lnSpc>
                <a:spcPts val="4678"/>
              </a:lnSpc>
            </a:pPr>
            <a:r>
              <a:rPr lang="en-US" b="true" sz="3118">
                <a:solidFill>
                  <a:srgbClr val="000000"/>
                </a:solidFill>
                <a:latin typeface="Garet Bold"/>
                <a:ea typeface="Garet Bold"/>
                <a:cs typeface="Garet Bold"/>
                <a:sym typeface="Garet Bold"/>
              </a:rPr>
              <a:t>The </a:t>
            </a:r>
            <a:r>
              <a:rPr lang="en-US" b="true" sz="3118">
                <a:solidFill>
                  <a:srgbClr val="000000"/>
                </a:solidFill>
                <a:latin typeface="Garet Bold"/>
                <a:ea typeface="Garet Bold"/>
                <a:cs typeface="Garet Bold"/>
                <a:sym typeface="Garet Bold"/>
              </a:rPr>
              <a:t>Real Estate Management System (REMS) is a comprehensive web-based platform designed to bridge the gap between property seekers, agents, and administrators. </a:t>
            </a:r>
          </a:p>
          <a:p>
            <a:pPr algn="just" marL="0" indent="0" lvl="0">
              <a:lnSpc>
                <a:spcPts val="4678"/>
              </a:lnSpc>
            </a:pPr>
          </a:p>
          <a:p>
            <a:pPr algn="just" marL="0" indent="0" lvl="0">
              <a:lnSpc>
                <a:spcPts val="4678"/>
              </a:lnSpc>
            </a:pPr>
            <a:r>
              <a:rPr lang="en-US" b="true" sz="3118">
                <a:solidFill>
                  <a:srgbClr val="000000"/>
                </a:solidFill>
                <a:latin typeface="Garet Bold"/>
                <a:ea typeface="Garet Bold"/>
                <a:cs typeface="Garet Bold"/>
                <a:sym typeface="Garet Bold"/>
              </a:rPr>
              <a:t>This software aims to simplify the complexities of the real estate market by providing a centralized hub for managing property listings, agent profiles, and client inquiries.</a:t>
            </a:r>
          </a:p>
          <a:p>
            <a:pPr algn="l" marL="0" indent="0" lvl="0">
              <a:lnSpc>
                <a:spcPts val="4366"/>
              </a:lnSpc>
              <a:spcBef>
                <a:spcPct val="0"/>
              </a:spcBef>
            </a:pPr>
          </a:p>
          <a:p>
            <a:pPr algn="l" marL="0" indent="0" lvl="0">
              <a:lnSpc>
                <a:spcPts val="2773"/>
              </a:lnSpc>
              <a:spcBef>
                <a:spcPct val="0"/>
              </a:spcBef>
            </a:pPr>
          </a:p>
        </p:txBody>
      </p:sp>
      <p:sp>
        <p:nvSpPr>
          <p:cNvPr name="Freeform 12" id="12"/>
          <p:cNvSpPr/>
          <p:nvPr/>
        </p:nvSpPr>
        <p:spPr>
          <a:xfrm flipH="false" flipV="false" rot="0">
            <a:off x="8611076" y="6107574"/>
            <a:ext cx="7090241" cy="6301451"/>
          </a:xfrm>
          <a:custGeom>
            <a:avLst/>
            <a:gdLst/>
            <a:ahLst/>
            <a:cxnLst/>
            <a:rect r="r" b="b" t="t" l="l"/>
            <a:pathLst>
              <a:path h="6301451" w="7090241">
                <a:moveTo>
                  <a:pt x="0" y="0"/>
                </a:moveTo>
                <a:lnTo>
                  <a:pt x="7090241" y="0"/>
                </a:lnTo>
                <a:lnTo>
                  <a:pt x="7090241" y="6301452"/>
                </a:lnTo>
                <a:lnTo>
                  <a:pt x="0" y="63014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9211685" y="6544067"/>
            <a:ext cx="5889024" cy="5060880"/>
            <a:chOff x="0" y="0"/>
            <a:chExt cx="812800" cy="698500"/>
          </a:xfrm>
        </p:grpSpPr>
        <p:sp>
          <p:nvSpPr>
            <p:cNvPr name="Freeform 14" id="1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FFFFFF">
                    <a:alpha val="100000"/>
                  </a:srgbClr>
                </a:gs>
                <a:gs pos="100000">
                  <a:srgbClr val="DFD5D5">
                    <a:alpha val="100000"/>
                  </a:srgbClr>
                </a:gs>
              </a:gsLst>
              <a:lin ang="2700000"/>
            </a:gradFill>
          </p:spPr>
        </p:sp>
        <p:sp>
          <p:nvSpPr>
            <p:cNvPr name="TextBox 15" id="15"/>
            <p:cNvSpPr txBox="true"/>
            <p:nvPr/>
          </p:nvSpPr>
          <p:spPr>
            <a:xfrm>
              <a:off x="114300" y="-38100"/>
              <a:ext cx="584200" cy="736600"/>
            </a:xfrm>
            <a:prstGeom prst="rect">
              <a:avLst/>
            </a:prstGeom>
          </p:spPr>
          <p:txBody>
            <a:bodyPr anchor="ctr" rtlCol="false" tIns="50800" lIns="50800" bIns="50800" rIns="50800"/>
            <a:lstStyle/>
            <a:p>
              <a:pPr algn="ctr" marL="0" indent="0" lvl="0">
                <a:lnSpc>
                  <a:spcPts val="2659"/>
                </a:lnSpc>
              </a:pPr>
            </a:p>
          </p:txBody>
        </p:sp>
      </p:grpSp>
      <p:grpSp>
        <p:nvGrpSpPr>
          <p:cNvPr name="Group 16" id="16"/>
          <p:cNvGrpSpPr/>
          <p:nvPr/>
        </p:nvGrpSpPr>
        <p:grpSpPr>
          <a:xfrm rot="0">
            <a:off x="9624044" y="6881777"/>
            <a:ext cx="5064305" cy="4385459"/>
            <a:chOff x="0" y="0"/>
            <a:chExt cx="4282440" cy="3708400"/>
          </a:xfrm>
        </p:grpSpPr>
        <p:sp>
          <p:nvSpPr>
            <p:cNvPr name="Freeform 17" id="17"/>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7"/>
              <a:stretch>
                <a:fillRect l="-3536" t="0" r="-3536" b="0"/>
              </a:stretch>
            </a:blipFill>
          </p:spPr>
        </p:sp>
      </p:grpSp>
      <p:grpSp>
        <p:nvGrpSpPr>
          <p:cNvPr name="Group 18" id="18"/>
          <p:cNvGrpSpPr/>
          <p:nvPr/>
        </p:nvGrpSpPr>
        <p:grpSpPr>
          <a:xfrm rot="0">
            <a:off x="-1874551" y="762324"/>
            <a:ext cx="8625827" cy="1192068"/>
            <a:chOff x="0" y="0"/>
            <a:chExt cx="7281212" cy="1006245"/>
          </a:xfrm>
        </p:grpSpPr>
        <p:sp>
          <p:nvSpPr>
            <p:cNvPr name="Freeform 19" id="19"/>
            <p:cNvSpPr/>
            <p:nvPr/>
          </p:nvSpPr>
          <p:spPr>
            <a:xfrm flipH="false" flipV="false" rot="0">
              <a:off x="0" y="0"/>
              <a:ext cx="7281212" cy="1006245"/>
            </a:xfrm>
            <a:custGeom>
              <a:avLst/>
              <a:gdLst/>
              <a:ahLst/>
              <a:cxnLst/>
              <a:rect r="r" b="b" t="t" l="l"/>
              <a:pathLst>
                <a:path h="1006245" w="7281212">
                  <a:moveTo>
                    <a:pt x="7281212" y="503123"/>
                  </a:moveTo>
                  <a:lnTo>
                    <a:pt x="7078012" y="1006245"/>
                  </a:lnTo>
                  <a:lnTo>
                    <a:pt x="203200" y="1006245"/>
                  </a:lnTo>
                  <a:lnTo>
                    <a:pt x="0" y="503123"/>
                  </a:lnTo>
                  <a:lnTo>
                    <a:pt x="203200" y="0"/>
                  </a:lnTo>
                  <a:lnTo>
                    <a:pt x="7078012" y="0"/>
                  </a:lnTo>
                  <a:lnTo>
                    <a:pt x="7281212" y="503123"/>
                  </a:lnTo>
                  <a:close/>
                </a:path>
              </a:pathLst>
            </a:custGeom>
            <a:gradFill rotWithShape="true">
              <a:gsLst>
                <a:gs pos="0">
                  <a:srgbClr val="162F56">
                    <a:alpha val="100000"/>
                  </a:srgbClr>
                </a:gs>
                <a:gs pos="100000">
                  <a:srgbClr val="18407D">
                    <a:alpha val="100000"/>
                  </a:srgbClr>
                </a:gs>
              </a:gsLst>
              <a:lin ang="0"/>
            </a:gradFill>
          </p:spPr>
        </p:sp>
        <p:sp>
          <p:nvSpPr>
            <p:cNvPr name="TextBox 20" id="20"/>
            <p:cNvSpPr txBox="true"/>
            <p:nvPr/>
          </p:nvSpPr>
          <p:spPr>
            <a:xfrm>
              <a:off x="114300" y="-38100"/>
              <a:ext cx="7052612" cy="1044345"/>
            </a:xfrm>
            <a:prstGeom prst="rect">
              <a:avLst/>
            </a:prstGeom>
          </p:spPr>
          <p:txBody>
            <a:bodyPr anchor="ctr" rtlCol="false" tIns="50800" lIns="50800" bIns="50800" rIns="50800"/>
            <a:lstStyle/>
            <a:p>
              <a:pPr algn="ctr" marL="0" indent="0" lvl="0">
                <a:lnSpc>
                  <a:spcPts val="2659"/>
                </a:lnSpc>
              </a:pPr>
            </a:p>
          </p:txBody>
        </p:sp>
      </p:grpSp>
      <p:sp>
        <p:nvSpPr>
          <p:cNvPr name="Freeform 21" id="21"/>
          <p:cNvSpPr/>
          <p:nvPr/>
        </p:nvSpPr>
        <p:spPr>
          <a:xfrm flipH="false" flipV="false" rot="0">
            <a:off x="5627826" y="972763"/>
            <a:ext cx="834255" cy="722673"/>
          </a:xfrm>
          <a:custGeom>
            <a:avLst/>
            <a:gdLst/>
            <a:ahLst/>
            <a:cxnLst/>
            <a:rect r="r" b="b" t="t" l="l"/>
            <a:pathLst>
              <a:path h="722673" w="834255">
                <a:moveTo>
                  <a:pt x="0" y="0"/>
                </a:moveTo>
                <a:lnTo>
                  <a:pt x="834255" y="0"/>
                </a:lnTo>
                <a:lnTo>
                  <a:pt x="834255" y="722673"/>
                </a:lnTo>
                <a:lnTo>
                  <a:pt x="0" y="7226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2" id="22"/>
          <p:cNvSpPr txBox="true"/>
          <p:nvPr/>
        </p:nvSpPr>
        <p:spPr>
          <a:xfrm rot="0">
            <a:off x="407538" y="865443"/>
            <a:ext cx="5154962" cy="829994"/>
          </a:xfrm>
          <a:prstGeom prst="rect">
            <a:avLst/>
          </a:prstGeom>
        </p:spPr>
        <p:txBody>
          <a:bodyPr anchor="t" rtlCol="false" tIns="0" lIns="0" bIns="0" rIns="0">
            <a:spAutoFit/>
          </a:bodyPr>
          <a:lstStyle/>
          <a:p>
            <a:pPr algn="just" marL="0" indent="0" lvl="0">
              <a:lnSpc>
                <a:spcPts val="6752"/>
              </a:lnSpc>
              <a:spcBef>
                <a:spcPct val="0"/>
              </a:spcBef>
            </a:pPr>
            <a:r>
              <a:rPr lang="en-US" b="true" sz="4823">
                <a:solidFill>
                  <a:srgbClr val="FFFFFF"/>
                </a:solidFill>
                <a:latin typeface="Garet Bold"/>
                <a:ea typeface="Garet Bold"/>
                <a:cs typeface="Garet Bold"/>
                <a:sym typeface="Garet Bold"/>
              </a:rPr>
              <a:t>INTRODUCTION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FD5D5">
                <a:alpha val="100000"/>
              </a:srgbClr>
            </a:gs>
            <a:gs pos="100000">
              <a:srgbClr val="FFFFF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289532">
            <a:off x="5571811" y="3406440"/>
            <a:ext cx="15724022" cy="8379769"/>
          </a:xfrm>
          <a:custGeom>
            <a:avLst/>
            <a:gdLst/>
            <a:ahLst/>
            <a:cxnLst/>
            <a:rect r="r" b="b" t="t" l="l"/>
            <a:pathLst>
              <a:path h="8379769" w="15724022">
                <a:moveTo>
                  <a:pt x="0" y="0"/>
                </a:moveTo>
                <a:lnTo>
                  <a:pt x="15724022" y="0"/>
                </a:lnTo>
                <a:lnTo>
                  <a:pt x="15724022" y="8379770"/>
                </a:lnTo>
                <a:lnTo>
                  <a:pt x="0" y="83797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45188"/>
            </a:stretch>
          </a:blipFill>
        </p:spPr>
      </p:sp>
      <p:grpSp>
        <p:nvGrpSpPr>
          <p:cNvPr name="Group 3" id="3"/>
          <p:cNvGrpSpPr/>
          <p:nvPr/>
        </p:nvGrpSpPr>
        <p:grpSpPr>
          <a:xfrm rot="0">
            <a:off x="13707413" y="3132835"/>
            <a:ext cx="9275828" cy="8116350"/>
            <a:chOff x="0" y="0"/>
            <a:chExt cx="812800" cy="711200"/>
          </a:xfrm>
        </p:grpSpPr>
        <p:sp>
          <p:nvSpPr>
            <p:cNvPr name="Freeform 4" id="4"/>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5" id="5"/>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10800000">
            <a:off x="13520375" y="-1267700"/>
            <a:ext cx="9667097" cy="8458710"/>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5289580" y="9487920"/>
            <a:ext cx="9458659" cy="975659"/>
            <a:chOff x="0" y="0"/>
            <a:chExt cx="3885305" cy="400769"/>
          </a:xfrm>
        </p:grpSpPr>
        <p:sp>
          <p:nvSpPr>
            <p:cNvPr name="Freeform 10" id="10"/>
            <p:cNvSpPr/>
            <p:nvPr/>
          </p:nvSpPr>
          <p:spPr>
            <a:xfrm flipH="false" flipV="false" rot="0">
              <a:off x="0" y="0"/>
              <a:ext cx="3885305" cy="400769"/>
            </a:xfrm>
            <a:custGeom>
              <a:avLst/>
              <a:gdLst/>
              <a:ahLst/>
              <a:cxnLst/>
              <a:rect r="r" b="b" t="t" l="l"/>
              <a:pathLst>
                <a:path h="400769" w="3885305">
                  <a:moveTo>
                    <a:pt x="203200" y="0"/>
                  </a:moveTo>
                  <a:lnTo>
                    <a:pt x="3885305" y="0"/>
                  </a:lnTo>
                  <a:lnTo>
                    <a:pt x="3682105" y="400769"/>
                  </a:lnTo>
                  <a:lnTo>
                    <a:pt x="0" y="400769"/>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11" id="11"/>
            <p:cNvSpPr txBox="true"/>
            <p:nvPr/>
          </p:nvSpPr>
          <p:spPr>
            <a:xfrm>
              <a:off x="101600" y="-38100"/>
              <a:ext cx="3682105" cy="438869"/>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025509" y="9487920"/>
            <a:ext cx="7099698" cy="975659"/>
            <a:chOff x="0" y="0"/>
            <a:chExt cx="2916322" cy="400769"/>
          </a:xfrm>
        </p:grpSpPr>
        <p:sp>
          <p:nvSpPr>
            <p:cNvPr name="Freeform 13" id="13"/>
            <p:cNvSpPr/>
            <p:nvPr/>
          </p:nvSpPr>
          <p:spPr>
            <a:xfrm flipH="false" flipV="false" rot="0">
              <a:off x="0" y="0"/>
              <a:ext cx="2916322" cy="400769"/>
            </a:xfrm>
            <a:custGeom>
              <a:avLst/>
              <a:gdLst/>
              <a:ahLst/>
              <a:cxnLst/>
              <a:rect r="r" b="b" t="t" l="l"/>
              <a:pathLst>
                <a:path h="400769" w="2916322">
                  <a:moveTo>
                    <a:pt x="203200" y="0"/>
                  </a:moveTo>
                  <a:lnTo>
                    <a:pt x="2916322" y="0"/>
                  </a:lnTo>
                  <a:lnTo>
                    <a:pt x="2713122" y="400769"/>
                  </a:lnTo>
                  <a:lnTo>
                    <a:pt x="0" y="400769"/>
                  </a:lnTo>
                  <a:lnTo>
                    <a:pt x="203200" y="0"/>
                  </a:lnTo>
                  <a:close/>
                </a:path>
              </a:pathLst>
            </a:custGeom>
            <a:gradFill rotWithShape="true">
              <a:gsLst>
                <a:gs pos="0">
                  <a:srgbClr val="162F56">
                    <a:alpha val="100000"/>
                  </a:srgbClr>
                </a:gs>
                <a:gs pos="100000">
                  <a:srgbClr val="18407D">
                    <a:alpha val="100000"/>
                  </a:srgbClr>
                </a:gs>
              </a:gsLst>
              <a:lin ang="0"/>
            </a:gradFill>
          </p:spPr>
        </p:sp>
        <p:sp>
          <p:nvSpPr>
            <p:cNvPr name="TextBox 14" id="14"/>
            <p:cNvSpPr txBox="true"/>
            <p:nvPr/>
          </p:nvSpPr>
          <p:spPr>
            <a:xfrm>
              <a:off x="101600" y="-38100"/>
              <a:ext cx="2713122" cy="438869"/>
            </a:xfrm>
            <a:prstGeom prst="rect">
              <a:avLst/>
            </a:prstGeom>
          </p:spPr>
          <p:txBody>
            <a:bodyPr anchor="ctr" rtlCol="false" tIns="50800" lIns="50800" bIns="50800" rIns="50800"/>
            <a:lstStyle/>
            <a:p>
              <a:pPr algn="ctr" marL="0" indent="0" lvl="0">
                <a:lnSpc>
                  <a:spcPts val="2659"/>
                </a:lnSpc>
              </a:pPr>
            </a:p>
          </p:txBody>
        </p:sp>
      </p:grpSp>
      <p:sp>
        <p:nvSpPr>
          <p:cNvPr name="Freeform 15" id="15"/>
          <p:cNvSpPr/>
          <p:nvPr/>
        </p:nvSpPr>
        <p:spPr>
          <a:xfrm flipH="false" flipV="false" rot="0">
            <a:off x="13707413" y="1127965"/>
            <a:ext cx="446735" cy="335051"/>
          </a:xfrm>
          <a:custGeom>
            <a:avLst/>
            <a:gdLst/>
            <a:ahLst/>
            <a:cxnLst/>
            <a:rect r="r" b="b" t="t" l="l"/>
            <a:pathLst>
              <a:path h="335051" w="446735">
                <a:moveTo>
                  <a:pt x="0" y="0"/>
                </a:moveTo>
                <a:lnTo>
                  <a:pt x="446735" y="0"/>
                </a:lnTo>
                <a:lnTo>
                  <a:pt x="446735" y="335051"/>
                </a:lnTo>
                <a:lnTo>
                  <a:pt x="0" y="3350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4154148" y="8923249"/>
            <a:ext cx="446735" cy="335051"/>
          </a:xfrm>
          <a:custGeom>
            <a:avLst/>
            <a:gdLst/>
            <a:ahLst/>
            <a:cxnLst/>
            <a:rect r="r" b="b" t="t" l="l"/>
            <a:pathLst>
              <a:path h="335051" w="446735">
                <a:moveTo>
                  <a:pt x="0" y="0"/>
                </a:moveTo>
                <a:lnTo>
                  <a:pt x="446734" y="0"/>
                </a:lnTo>
                <a:lnTo>
                  <a:pt x="446734" y="335051"/>
                </a:lnTo>
                <a:lnTo>
                  <a:pt x="0" y="3350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602047" y="2203907"/>
            <a:ext cx="14146192" cy="2214091"/>
          </a:xfrm>
          <a:prstGeom prst="rect">
            <a:avLst/>
          </a:prstGeom>
        </p:spPr>
        <p:txBody>
          <a:bodyPr anchor="t" rtlCol="false" tIns="0" lIns="0" bIns="0" rIns="0">
            <a:spAutoFit/>
          </a:bodyPr>
          <a:lstStyle/>
          <a:p>
            <a:pPr algn="l" marL="0" indent="0" lvl="0">
              <a:lnSpc>
                <a:spcPts val="4488"/>
              </a:lnSpc>
              <a:spcBef>
                <a:spcPct val="0"/>
              </a:spcBef>
            </a:pPr>
            <a:r>
              <a:rPr lang="en-US" sz="3206">
                <a:solidFill>
                  <a:srgbClr val="000000"/>
                </a:solidFill>
                <a:latin typeface="Garet"/>
                <a:ea typeface="Garet"/>
                <a:cs typeface="Garet"/>
                <a:sym typeface="Garet"/>
              </a:rPr>
              <a:t>Comparing</a:t>
            </a:r>
            <a:r>
              <a:rPr lang="en-US" sz="3206">
                <a:solidFill>
                  <a:srgbClr val="000000"/>
                </a:solidFill>
                <a:latin typeface="Garet"/>
                <a:ea typeface="Garet"/>
                <a:cs typeface="Garet"/>
                <a:sym typeface="Garet"/>
              </a:rPr>
              <a:t> traditional real estate management approaches with our innovative REMS solution to highlight key improvements and benefits.</a:t>
            </a:r>
          </a:p>
          <a:p>
            <a:pPr algn="l" marL="0" indent="0" lvl="0">
              <a:lnSpc>
                <a:spcPts val="4488"/>
              </a:lnSpc>
              <a:spcBef>
                <a:spcPct val="0"/>
              </a:spcBef>
            </a:pPr>
          </a:p>
        </p:txBody>
      </p:sp>
      <p:sp>
        <p:nvSpPr>
          <p:cNvPr name="TextBox 18" id="18"/>
          <p:cNvSpPr txBox="true"/>
          <p:nvPr/>
        </p:nvSpPr>
        <p:spPr>
          <a:xfrm rot="0">
            <a:off x="1028700" y="1090887"/>
            <a:ext cx="11165237" cy="1449108"/>
          </a:xfrm>
          <a:prstGeom prst="rect">
            <a:avLst/>
          </a:prstGeom>
        </p:spPr>
        <p:txBody>
          <a:bodyPr anchor="t" rtlCol="false" tIns="0" lIns="0" bIns="0" rIns="0">
            <a:spAutoFit/>
          </a:bodyPr>
          <a:lstStyle/>
          <a:p>
            <a:pPr algn="l" marL="0" indent="0" lvl="0">
              <a:lnSpc>
                <a:spcPts val="5727"/>
              </a:lnSpc>
            </a:pPr>
            <a:r>
              <a:rPr lang="en-US" b="true" sz="4656" spc="-237">
                <a:solidFill>
                  <a:srgbClr val="102C57"/>
                </a:solidFill>
                <a:latin typeface="Garet Bold"/>
                <a:ea typeface="Garet Bold"/>
                <a:cs typeface="Garet Bold"/>
                <a:sym typeface="Garet Bold"/>
              </a:rPr>
              <a:t>Problem </a:t>
            </a:r>
            <a:r>
              <a:rPr lang="en-US" b="true" sz="4656" spc="-237">
                <a:solidFill>
                  <a:srgbClr val="102C57"/>
                </a:solidFill>
                <a:latin typeface="Garet Bold"/>
                <a:ea typeface="Garet Bold"/>
                <a:cs typeface="Garet Bold"/>
                <a:sym typeface="Garet Bold"/>
              </a:rPr>
              <a:t>Statement</a:t>
            </a:r>
          </a:p>
          <a:p>
            <a:pPr algn="l" marL="0" indent="0" lvl="0">
              <a:lnSpc>
                <a:spcPts val="5727"/>
              </a:lnSpc>
            </a:pPr>
          </a:p>
        </p:txBody>
      </p:sp>
      <p:sp>
        <p:nvSpPr>
          <p:cNvPr name="TextBox 19" id="19"/>
          <p:cNvSpPr txBox="true"/>
          <p:nvPr/>
        </p:nvSpPr>
        <p:spPr>
          <a:xfrm rot="0">
            <a:off x="450356" y="4280110"/>
            <a:ext cx="15728083" cy="481331"/>
          </a:xfrm>
          <a:prstGeom prst="rect">
            <a:avLst/>
          </a:prstGeom>
        </p:spPr>
        <p:txBody>
          <a:bodyPr anchor="t" rtlCol="false" tIns="0" lIns="0" bIns="0" rIns="0">
            <a:spAutoFit/>
          </a:bodyPr>
          <a:lstStyle/>
          <a:p>
            <a:pPr algn="l" marL="604515" indent="-302257" lvl="1">
              <a:lnSpc>
                <a:spcPts val="3919"/>
              </a:lnSpc>
              <a:buFont typeface="Arial"/>
              <a:buChar char="•"/>
            </a:pPr>
            <a:r>
              <a:rPr lang="en-US" sz="2799">
                <a:solidFill>
                  <a:srgbClr val="000000"/>
                </a:solidFill>
                <a:latin typeface="Canva Sans"/>
                <a:ea typeface="Canva Sans"/>
                <a:cs typeface="Canva Sans"/>
                <a:sym typeface="Canva Sans"/>
              </a:rPr>
              <a:t>Manual property and customer record management is time-consuming and error-prone.</a:t>
            </a:r>
          </a:p>
        </p:txBody>
      </p:sp>
      <p:sp>
        <p:nvSpPr>
          <p:cNvPr name="TextBox 20" id="20"/>
          <p:cNvSpPr txBox="true"/>
          <p:nvPr/>
        </p:nvSpPr>
        <p:spPr>
          <a:xfrm rot="0">
            <a:off x="450356" y="4981892"/>
            <a:ext cx="13141087" cy="481331"/>
          </a:xfrm>
          <a:prstGeom prst="rect">
            <a:avLst/>
          </a:prstGeom>
        </p:spPr>
        <p:txBody>
          <a:bodyPr anchor="t" rtlCol="false" tIns="0" lIns="0" bIns="0" rIns="0">
            <a:spAutoFit/>
          </a:bodyPr>
          <a:lstStyle/>
          <a:p>
            <a:pPr algn="l" marL="604515" indent="-302257" lvl="1">
              <a:lnSpc>
                <a:spcPts val="3919"/>
              </a:lnSpc>
              <a:buFont typeface="Arial"/>
              <a:buChar char="•"/>
            </a:pPr>
            <a:r>
              <a:rPr lang="en-US" sz="2799">
                <a:solidFill>
                  <a:srgbClr val="000000"/>
                </a:solidFill>
                <a:latin typeface="Canva Sans"/>
                <a:ea typeface="Canva Sans"/>
                <a:cs typeface="Canva Sans"/>
                <a:sym typeface="Canva Sans"/>
              </a:rPr>
              <a:t>Difficulty in tracking property availability, sales, and rental information.</a:t>
            </a:r>
          </a:p>
        </p:txBody>
      </p:sp>
      <p:sp>
        <p:nvSpPr>
          <p:cNvPr name="TextBox 21" id="21"/>
          <p:cNvSpPr txBox="true"/>
          <p:nvPr/>
        </p:nvSpPr>
        <p:spPr>
          <a:xfrm rot="0">
            <a:off x="450356" y="5749041"/>
            <a:ext cx="12058067" cy="4813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000000"/>
                </a:solidFill>
                <a:latin typeface="Canva Sans"/>
                <a:ea typeface="Canva Sans"/>
                <a:cs typeface="Canva Sans"/>
                <a:sym typeface="Canva Sans"/>
              </a:rPr>
              <a:t>Lack of a centralized database for efficient data management.</a:t>
            </a:r>
          </a:p>
        </p:txBody>
      </p:sp>
      <p:sp>
        <p:nvSpPr>
          <p:cNvPr name="TextBox 22" id="22"/>
          <p:cNvSpPr txBox="true"/>
          <p:nvPr/>
        </p:nvSpPr>
        <p:spPr>
          <a:xfrm rot="0">
            <a:off x="450356" y="6392296"/>
            <a:ext cx="12058067" cy="4813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000000"/>
                </a:solidFill>
                <a:latin typeface="Canva Sans"/>
                <a:ea typeface="Canva Sans"/>
                <a:cs typeface="Canva Sans"/>
                <a:sym typeface="Canva Sans"/>
              </a:rPr>
              <a:t>Limited reporting and real-time business monitoring capabilities.</a:t>
            </a:r>
          </a:p>
        </p:txBody>
      </p:sp>
      <p:sp>
        <p:nvSpPr>
          <p:cNvPr name="TextBox 23" id="23"/>
          <p:cNvSpPr txBox="true"/>
          <p:nvPr/>
        </p:nvSpPr>
        <p:spPr>
          <a:xfrm rot="0">
            <a:off x="450356" y="7108010"/>
            <a:ext cx="15121866" cy="9766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000000"/>
                </a:solidFill>
                <a:latin typeface="Canva Sans"/>
                <a:ea typeface="Canva Sans"/>
                <a:cs typeface="Canva Sans"/>
                <a:sym typeface="Canva Sans"/>
              </a:rPr>
              <a:t>Need for a secure, automated, and web-based Real Estate Management System to improve efficiency and decision-making.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FD5D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1289532">
            <a:off x="3104941" y="7886327"/>
            <a:ext cx="9566967" cy="5098503"/>
          </a:xfrm>
          <a:custGeom>
            <a:avLst/>
            <a:gdLst/>
            <a:ahLst/>
            <a:cxnLst/>
            <a:rect r="r" b="b" t="t" l="l"/>
            <a:pathLst>
              <a:path h="5098503" w="9566967">
                <a:moveTo>
                  <a:pt x="9566966" y="0"/>
                </a:moveTo>
                <a:lnTo>
                  <a:pt x="0" y="0"/>
                </a:lnTo>
                <a:lnTo>
                  <a:pt x="0" y="5098503"/>
                </a:lnTo>
                <a:lnTo>
                  <a:pt x="9566966" y="5098503"/>
                </a:lnTo>
                <a:lnTo>
                  <a:pt x="9566966" y="0"/>
                </a:lnTo>
                <a:close/>
              </a:path>
            </a:pathLst>
          </a:custGeom>
          <a:blipFill>
            <a:blip r:embed="rId2">
              <a:alphaModFix amt="4000"/>
              <a:extLst>
                <a:ext uri="{96DAC541-7B7A-43D3-8B79-37D633B846F1}">
                  <asvg:svgBlip xmlns:asvg="http://schemas.microsoft.com/office/drawing/2016/SVG/main" r:embed="rId3"/>
                </a:ext>
              </a:extLst>
            </a:blip>
            <a:stretch>
              <a:fillRect l="0" t="0" r="0" b="-45188"/>
            </a:stretch>
          </a:blipFill>
        </p:spPr>
      </p:sp>
      <p:grpSp>
        <p:nvGrpSpPr>
          <p:cNvPr name="Group 3" id="3"/>
          <p:cNvGrpSpPr/>
          <p:nvPr/>
        </p:nvGrpSpPr>
        <p:grpSpPr>
          <a:xfrm rot="0">
            <a:off x="11467265" y="0"/>
            <a:ext cx="6820735" cy="10287000"/>
            <a:chOff x="0" y="0"/>
            <a:chExt cx="9094313" cy="13716000"/>
          </a:xfrm>
        </p:grpSpPr>
        <p:pic>
          <p:nvPicPr>
            <p:cNvPr name="Picture 4" id="4"/>
            <p:cNvPicPr>
              <a:picLocks noChangeAspect="true"/>
            </p:cNvPicPr>
            <p:nvPr/>
          </p:nvPicPr>
          <p:blipFill>
            <a:blip r:embed="rId4"/>
            <a:srcRect l="794" t="0" r="794" b="0"/>
            <a:stretch>
              <a:fillRect/>
            </a:stretch>
          </p:blipFill>
          <p:spPr>
            <a:xfrm flipH="false" flipV="false">
              <a:off x="0" y="0"/>
              <a:ext cx="9094313" cy="13716000"/>
            </a:xfrm>
            <a:prstGeom prst="rect">
              <a:avLst/>
            </a:prstGeom>
          </p:spPr>
        </p:pic>
      </p:grpSp>
      <p:grpSp>
        <p:nvGrpSpPr>
          <p:cNvPr name="Group 5" id="5"/>
          <p:cNvGrpSpPr/>
          <p:nvPr/>
        </p:nvGrpSpPr>
        <p:grpSpPr>
          <a:xfrm rot="0">
            <a:off x="6751276" y="3538633"/>
            <a:ext cx="10809840" cy="9458610"/>
            <a:chOff x="0" y="0"/>
            <a:chExt cx="812800" cy="711200"/>
          </a:xfrm>
        </p:grpSpPr>
        <p:sp>
          <p:nvSpPr>
            <p:cNvPr name="Freeform 6" id="6"/>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7" id="7"/>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10800000">
            <a:off x="8531712" y="-187385"/>
            <a:ext cx="5765275" cy="5044616"/>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10" id="10"/>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sp>
        <p:nvSpPr>
          <p:cNvPr name="Freeform 11" id="11"/>
          <p:cNvSpPr/>
          <p:nvPr/>
        </p:nvSpPr>
        <p:spPr>
          <a:xfrm flipH="false" flipV="false" rot="0">
            <a:off x="10010610" y="4540594"/>
            <a:ext cx="543813" cy="407859"/>
          </a:xfrm>
          <a:custGeom>
            <a:avLst/>
            <a:gdLst/>
            <a:ahLst/>
            <a:cxnLst/>
            <a:rect r="r" b="b" t="t" l="l"/>
            <a:pathLst>
              <a:path h="407859" w="543813">
                <a:moveTo>
                  <a:pt x="0" y="0"/>
                </a:moveTo>
                <a:lnTo>
                  <a:pt x="543813" y="0"/>
                </a:lnTo>
                <a:lnTo>
                  <a:pt x="543813" y="407859"/>
                </a:lnTo>
                <a:lnTo>
                  <a:pt x="0" y="4078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6529254" y="5923781"/>
            <a:ext cx="7090241" cy="6301451"/>
          </a:xfrm>
          <a:custGeom>
            <a:avLst/>
            <a:gdLst/>
            <a:ahLst/>
            <a:cxnLst/>
            <a:rect r="r" b="b" t="t" l="l"/>
            <a:pathLst>
              <a:path h="6301451" w="7090241">
                <a:moveTo>
                  <a:pt x="0" y="0"/>
                </a:moveTo>
                <a:lnTo>
                  <a:pt x="7090240" y="0"/>
                </a:lnTo>
                <a:lnTo>
                  <a:pt x="7090240" y="6301451"/>
                </a:lnTo>
                <a:lnTo>
                  <a:pt x="0" y="63014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3" id="13"/>
          <p:cNvGrpSpPr/>
          <p:nvPr/>
        </p:nvGrpSpPr>
        <p:grpSpPr>
          <a:xfrm rot="0">
            <a:off x="7234637" y="6544067"/>
            <a:ext cx="5889024" cy="5060880"/>
            <a:chOff x="0" y="0"/>
            <a:chExt cx="812800" cy="698500"/>
          </a:xfrm>
        </p:grpSpPr>
        <p:sp>
          <p:nvSpPr>
            <p:cNvPr name="Freeform 14" id="1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FFFFFF">
                    <a:alpha val="100000"/>
                  </a:srgbClr>
                </a:gs>
                <a:gs pos="100000">
                  <a:srgbClr val="DFD5D5">
                    <a:alpha val="100000"/>
                  </a:srgbClr>
                </a:gs>
              </a:gsLst>
              <a:lin ang="2700000"/>
            </a:gradFill>
          </p:spPr>
        </p:sp>
        <p:sp>
          <p:nvSpPr>
            <p:cNvPr name="TextBox 15" id="15"/>
            <p:cNvSpPr txBox="true"/>
            <p:nvPr/>
          </p:nvSpPr>
          <p:spPr>
            <a:xfrm>
              <a:off x="114300" y="-38100"/>
              <a:ext cx="584200" cy="736600"/>
            </a:xfrm>
            <a:prstGeom prst="rect">
              <a:avLst/>
            </a:prstGeom>
          </p:spPr>
          <p:txBody>
            <a:bodyPr anchor="ctr" rtlCol="false" tIns="50800" lIns="50800" bIns="50800" rIns="50800"/>
            <a:lstStyle/>
            <a:p>
              <a:pPr algn="ctr" marL="0" indent="0" lvl="0">
                <a:lnSpc>
                  <a:spcPts val="2659"/>
                </a:lnSpc>
              </a:pPr>
            </a:p>
          </p:txBody>
        </p:sp>
      </p:grpSp>
      <p:grpSp>
        <p:nvGrpSpPr>
          <p:cNvPr name="Group 16" id="16"/>
          <p:cNvGrpSpPr/>
          <p:nvPr/>
        </p:nvGrpSpPr>
        <p:grpSpPr>
          <a:xfrm rot="0">
            <a:off x="7627947" y="6881777"/>
            <a:ext cx="5064305" cy="4385459"/>
            <a:chOff x="0" y="0"/>
            <a:chExt cx="4282440" cy="3708400"/>
          </a:xfrm>
        </p:grpSpPr>
        <p:sp>
          <p:nvSpPr>
            <p:cNvPr name="Freeform 17" id="17"/>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9"/>
              <a:stretch>
                <a:fillRect l="-3536" t="0" r="-3536" b="0"/>
              </a:stretch>
            </a:blipFill>
          </p:spPr>
        </p:sp>
      </p:grpSp>
      <p:sp>
        <p:nvSpPr>
          <p:cNvPr name="TextBox 18" id="18"/>
          <p:cNvSpPr txBox="true"/>
          <p:nvPr/>
        </p:nvSpPr>
        <p:spPr>
          <a:xfrm rot="0">
            <a:off x="1007517" y="1254799"/>
            <a:ext cx="7401570" cy="669104"/>
          </a:xfrm>
          <a:prstGeom prst="rect">
            <a:avLst/>
          </a:prstGeom>
        </p:spPr>
        <p:txBody>
          <a:bodyPr anchor="t" rtlCol="false" tIns="0" lIns="0" bIns="0" rIns="0">
            <a:spAutoFit/>
          </a:bodyPr>
          <a:lstStyle/>
          <a:p>
            <a:pPr algn="l" marL="0" indent="0" lvl="0">
              <a:lnSpc>
                <a:spcPts val="5390"/>
              </a:lnSpc>
            </a:pPr>
            <a:r>
              <a:rPr lang="en-US" b="true" sz="4382" spc="-223">
                <a:solidFill>
                  <a:srgbClr val="102C57"/>
                </a:solidFill>
                <a:latin typeface="Garet Bold"/>
                <a:ea typeface="Garet Bold"/>
                <a:cs typeface="Garet Bold"/>
                <a:sym typeface="Garet Bold"/>
              </a:rPr>
              <a:t>Objective</a:t>
            </a:r>
          </a:p>
        </p:txBody>
      </p:sp>
      <p:sp>
        <p:nvSpPr>
          <p:cNvPr name="TextBox 19" id="19"/>
          <p:cNvSpPr txBox="true"/>
          <p:nvPr/>
        </p:nvSpPr>
        <p:spPr>
          <a:xfrm rot="0">
            <a:off x="1007517" y="2078063"/>
            <a:ext cx="8648733" cy="2462531"/>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Garet"/>
                <a:ea typeface="Garet"/>
                <a:cs typeface="Garet"/>
                <a:sym typeface="Garet"/>
              </a:rPr>
              <a:t>The Real Estate Management System (REMS) is designed to transform traditional property management through digital innovation. Our objectives focus on creating a comprehensive, efficient, and user-centric platform.</a:t>
            </a:r>
          </a:p>
        </p:txBody>
      </p:sp>
      <p:sp>
        <p:nvSpPr>
          <p:cNvPr name="TextBox 20" id="20"/>
          <p:cNvSpPr txBox="true"/>
          <p:nvPr/>
        </p:nvSpPr>
        <p:spPr>
          <a:xfrm rot="0">
            <a:off x="1483569" y="5063297"/>
            <a:ext cx="9256271" cy="481034"/>
          </a:xfrm>
          <a:prstGeom prst="rect">
            <a:avLst/>
          </a:prstGeom>
        </p:spPr>
        <p:txBody>
          <a:bodyPr anchor="t" rtlCol="false" tIns="0" lIns="0" bIns="0" rIns="0">
            <a:spAutoFit/>
          </a:bodyPr>
          <a:lstStyle/>
          <a:p>
            <a:pPr algn="l" marL="0" indent="0" lvl="0">
              <a:lnSpc>
                <a:spcPts val="3936"/>
              </a:lnSpc>
              <a:spcBef>
                <a:spcPct val="0"/>
              </a:spcBef>
            </a:pPr>
            <a:r>
              <a:rPr lang="en-US" b="true" sz="2811">
                <a:solidFill>
                  <a:srgbClr val="000000"/>
                </a:solidFill>
                <a:latin typeface="Garet Bold"/>
                <a:ea typeface="Garet Bold"/>
                <a:cs typeface="Garet Bold"/>
                <a:sym typeface="Garet Bold"/>
              </a:rPr>
              <a:t>Digitize and automate real estate operations</a:t>
            </a:r>
          </a:p>
        </p:txBody>
      </p:sp>
      <p:sp>
        <p:nvSpPr>
          <p:cNvPr name="TextBox 21" id="21"/>
          <p:cNvSpPr txBox="true"/>
          <p:nvPr/>
        </p:nvSpPr>
        <p:spPr>
          <a:xfrm rot="0">
            <a:off x="1483569" y="5677681"/>
            <a:ext cx="8527041" cy="481034"/>
          </a:xfrm>
          <a:prstGeom prst="rect">
            <a:avLst/>
          </a:prstGeom>
        </p:spPr>
        <p:txBody>
          <a:bodyPr anchor="t" rtlCol="false" tIns="0" lIns="0" bIns="0" rIns="0">
            <a:spAutoFit/>
          </a:bodyPr>
          <a:lstStyle/>
          <a:p>
            <a:pPr algn="l" marL="0" indent="0" lvl="0">
              <a:lnSpc>
                <a:spcPts val="3936"/>
              </a:lnSpc>
              <a:spcBef>
                <a:spcPct val="0"/>
              </a:spcBef>
            </a:pPr>
            <a:r>
              <a:rPr lang="en-US" b="true" sz="2811">
                <a:solidFill>
                  <a:srgbClr val="000000"/>
                </a:solidFill>
                <a:latin typeface="Garet Bold"/>
                <a:ea typeface="Garet Bold"/>
                <a:cs typeface="Garet Bold"/>
                <a:sym typeface="Garet Bold"/>
              </a:rPr>
              <a:t>Reduce manual errors and workload</a:t>
            </a:r>
          </a:p>
        </p:txBody>
      </p:sp>
      <p:sp>
        <p:nvSpPr>
          <p:cNvPr name="TextBox 22" id="22"/>
          <p:cNvSpPr txBox="true"/>
          <p:nvPr/>
        </p:nvSpPr>
        <p:spPr>
          <a:xfrm rot="0">
            <a:off x="1497170" y="6292065"/>
            <a:ext cx="7669426" cy="481034"/>
          </a:xfrm>
          <a:prstGeom prst="rect">
            <a:avLst/>
          </a:prstGeom>
        </p:spPr>
        <p:txBody>
          <a:bodyPr anchor="t" rtlCol="false" tIns="0" lIns="0" bIns="0" rIns="0">
            <a:spAutoFit/>
          </a:bodyPr>
          <a:lstStyle/>
          <a:p>
            <a:pPr algn="l" marL="0" indent="0" lvl="0">
              <a:lnSpc>
                <a:spcPts val="3936"/>
              </a:lnSpc>
              <a:spcBef>
                <a:spcPct val="0"/>
              </a:spcBef>
            </a:pPr>
            <a:r>
              <a:rPr lang="en-US" b="true" sz="2811">
                <a:solidFill>
                  <a:srgbClr val="000000"/>
                </a:solidFill>
                <a:latin typeface="Garet Bold"/>
                <a:ea typeface="Garet Bold"/>
                <a:cs typeface="Garet Bold"/>
                <a:sym typeface="Garet Bold"/>
              </a:rPr>
              <a:t>Improve user experience for all</a:t>
            </a:r>
          </a:p>
        </p:txBody>
      </p:sp>
      <p:sp>
        <p:nvSpPr>
          <p:cNvPr name="TextBox 23" id="23"/>
          <p:cNvSpPr txBox="true"/>
          <p:nvPr/>
        </p:nvSpPr>
        <p:spPr>
          <a:xfrm rot="0">
            <a:off x="1497170" y="6981163"/>
            <a:ext cx="7121487" cy="481034"/>
          </a:xfrm>
          <a:prstGeom prst="rect">
            <a:avLst/>
          </a:prstGeom>
        </p:spPr>
        <p:txBody>
          <a:bodyPr anchor="t" rtlCol="false" tIns="0" lIns="0" bIns="0" rIns="0">
            <a:spAutoFit/>
          </a:bodyPr>
          <a:lstStyle/>
          <a:p>
            <a:pPr algn="l" marL="0" indent="0" lvl="0">
              <a:lnSpc>
                <a:spcPts val="3936"/>
              </a:lnSpc>
              <a:spcBef>
                <a:spcPct val="0"/>
              </a:spcBef>
            </a:pPr>
            <a:r>
              <a:rPr lang="en-US" b="true" sz="2811">
                <a:solidFill>
                  <a:srgbClr val="000000"/>
                </a:solidFill>
                <a:latin typeface="Garet Bold"/>
                <a:ea typeface="Garet Bold"/>
                <a:cs typeface="Garet Bold"/>
                <a:sym typeface="Garet Bold"/>
              </a:rPr>
              <a:t>Enable seamless transactions</a:t>
            </a:r>
          </a:p>
        </p:txBody>
      </p:sp>
      <p:sp>
        <p:nvSpPr>
          <p:cNvPr name="TextBox 24" id="24"/>
          <p:cNvSpPr txBox="true"/>
          <p:nvPr/>
        </p:nvSpPr>
        <p:spPr>
          <a:xfrm rot="0">
            <a:off x="1497170" y="7650997"/>
            <a:ext cx="7534329" cy="481034"/>
          </a:xfrm>
          <a:prstGeom prst="rect">
            <a:avLst/>
          </a:prstGeom>
        </p:spPr>
        <p:txBody>
          <a:bodyPr anchor="t" rtlCol="false" tIns="0" lIns="0" bIns="0" rIns="0">
            <a:spAutoFit/>
          </a:bodyPr>
          <a:lstStyle/>
          <a:p>
            <a:pPr algn="l" marL="0" indent="0" lvl="0">
              <a:lnSpc>
                <a:spcPts val="3936"/>
              </a:lnSpc>
              <a:spcBef>
                <a:spcPct val="0"/>
              </a:spcBef>
            </a:pPr>
            <a:r>
              <a:rPr lang="en-US" b="true" sz="2811">
                <a:solidFill>
                  <a:srgbClr val="000000"/>
                </a:solidFill>
                <a:latin typeface="Garet Bold"/>
                <a:ea typeface="Garet Bold"/>
                <a:cs typeface="Garet Bold"/>
                <a:sym typeface="Garet Bold"/>
              </a:rPr>
              <a:t>Centralize property management</a:t>
            </a:r>
          </a:p>
        </p:txBody>
      </p:sp>
      <p:sp>
        <p:nvSpPr>
          <p:cNvPr name="Freeform 25" id="25"/>
          <p:cNvSpPr/>
          <p:nvPr/>
        </p:nvSpPr>
        <p:spPr>
          <a:xfrm flipH="false" flipV="false" rot="0">
            <a:off x="1016992" y="5151414"/>
            <a:ext cx="402442" cy="402442"/>
          </a:xfrm>
          <a:custGeom>
            <a:avLst/>
            <a:gdLst/>
            <a:ahLst/>
            <a:cxnLst/>
            <a:rect r="r" b="b" t="t" l="l"/>
            <a:pathLst>
              <a:path h="402442" w="402442">
                <a:moveTo>
                  <a:pt x="0" y="0"/>
                </a:moveTo>
                <a:lnTo>
                  <a:pt x="402442" y="0"/>
                </a:lnTo>
                <a:lnTo>
                  <a:pt x="402442" y="402442"/>
                </a:lnTo>
                <a:lnTo>
                  <a:pt x="0" y="4024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033502" y="5715781"/>
            <a:ext cx="402442" cy="402442"/>
          </a:xfrm>
          <a:custGeom>
            <a:avLst/>
            <a:gdLst/>
            <a:ahLst/>
            <a:cxnLst/>
            <a:rect r="r" b="b" t="t" l="l"/>
            <a:pathLst>
              <a:path h="402442" w="402442">
                <a:moveTo>
                  <a:pt x="0" y="0"/>
                </a:moveTo>
                <a:lnTo>
                  <a:pt x="402442" y="0"/>
                </a:lnTo>
                <a:lnTo>
                  <a:pt x="402442" y="402442"/>
                </a:lnTo>
                <a:lnTo>
                  <a:pt x="0" y="4024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1028700" y="6349215"/>
            <a:ext cx="402442" cy="402442"/>
          </a:xfrm>
          <a:custGeom>
            <a:avLst/>
            <a:gdLst/>
            <a:ahLst/>
            <a:cxnLst/>
            <a:rect r="r" b="b" t="t" l="l"/>
            <a:pathLst>
              <a:path h="402442" w="402442">
                <a:moveTo>
                  <a:pt x="0" y="0"/>
                </a:moveTo>
                <a:lnTo>
                  <a:pt x="402442" y="0"/>
                </a:lnTo>
                <a:lnTo>
                  <a:pt x="402442" y="402442"/>
                </a:lnTo>
                <a:lnTo>
                  <a:pt x="0" y="4024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1043027" y="7027882"/>
            <a:ext cx="402442" cy="402442"/>
          </a:xfrm>
          <a:custGeom>
            <a:avLst/>
            <a:gdLst/>
            <a:ahLst/>
            <a:cxnLst/>
            <a:rect r="r" b="b" t="t" l="l"/>
            <a:pathLst>
              <a:path h="402442" w="402442">
                <a:moveTo>
                  <a:pt x="0" y="0"/>
                </a:moveTo>
                <a:lnTo>
                  <a:pt x="402442" y="0"/>
                </a:lnTo>
                <a:lnTo>
                  <a:pt x="402442" y="402442"/>
                </a:lnTo>
                <a:lnTo>
                  <a:pt x="0" y="4024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1028700" y="7708147"/>
            <a:ext cx="402442" cy="402442"/>
          </a:xfrm>
          <a:custGeom>
            <a:avLst/>
            <a:gdLst/>
            <a:ahLst/>
            <a:cxnLst/>
            <a:rect r="r" b="b" t="t" l="l"/>
            <a:pathLst>
              <a:path h="402442" w="402442">
                <a:moveTo>
                  <a:pt x="0" y="0"/>
                </a:moveTo>
                <a:lnTo>
                  <a:pt x="402442" y="0"/>
                </a:lnTo>
                <a:lnTo>
                  <a:pt x="402442" y="402442"/>
                </a:lnTo>
                <a:lnTo>
                  <a:pt x="0" y="4024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FD5D5">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10800000">
            <a:off x="12899086" y="-3737809"/>
            <a:ext cx="10777828" cy="9430600"/>
            <a:chOff x="0" y="0"/>
            <a:chExt cx="812800" cy="711200"/>
          </a:xfrm>
        </p:grpSpPr>
        <p:sp>
          <p:nvSpPr>
            <p:cNvPr name="Freeform 3" id="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4" id="4"/>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0">
            <a:off x="10430028" y="1200528"/>
            <a:ext cx="543813" cy="407859"/>
          </a:xfrm>
          <a:custGeom>
            <a:avLst/>
            <a:gdLst/>
            <a:ahLst/>
            <a:cxnLst/>
            <a:rect r="r" b="b" t="t" l="l"/>
            <a:pathLst>
              <a:path h="407859" w="543813">
                <a:moveTo>
                  <a:pt x="0" y="0"/>
                </a:moveTo>
                <a:lnTo>
                  <a:pt x="543813" y="0"/>
                </a:lnTo>
                <a:lnTo>
                  <a:pt x="543813" y="407860"/>
                </a:lnTo>
                <a:lnTo>
                  <a:pt x="0" y="4078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289532">
            <a:off x="-2618048" y="-1848121"/>
            <a:ext cx="9566967" cy="5098503"/>
          </a:xfrm>
          <a:custGeom>
            <a:avLst/>
            <a:gdLst/>
            <a:ahLst/>
            <a:cxnLst/>
            <a:rect r="r" b="b" t="t" l="l"/>
            <a:pathLst>
              <a:path h="5098503" w="9566967">
                <a:moveTo>
                  <a:pt x="0" y="5098503"/>
                </a:moveTo>
                <a:lnTo>
                  <a:pt x="9566967" y="5098503"/>
                </a:lnTo>
                <a:lnTo>
                  <a:pt x="9566967" y="0"/>
                </a:lnTo>
                <a:lnTo>
                  <a:pt x="0" y="0"/>
                </a:lnTo>
                <a:lnTo>
                  <a:pt x="0" y="5098503"/>
                </a:lnTo>
                <a:close/>
              </a:path>
            </a:pathLst>
          </a:custGeom>
          <a:blipFill>
            <a:blip r:embed="rId4">
              <a:alphaModFix amt="4000"/>
              <a:extLst>
                <a:ext uri="{96DAC541-7B7A-43D3-8B79-37D633B846F1}">
                  <asvg:svgBlip xmlns:asvg="http://schemas.microsoft.com/office/drawing/2016/SVG/main" r:embed="rId5"/>
                </a:ext>
              </a:extLst>
            </a:blip>
            <a:stretch>
              <a:fillRect l="0" t="0" r="0" b="-45188"/>
            </a:stretch>
          </a:blipFill>
        </p:spPr>
      </p:sp>
      <p:grpSp>
        <p:nvGrpSpPr>
          <p:cNvPr name="Group 7" id="7"/>
          <p:cNvGrpSpPr/>
          <p:nvPr/>
        </p:nvGrpSpPr>
        <p:grpSpPr>
          <a:xfrm rot="0">
            <a:off x="13436131" y="4825673"/>
            <a:ext cx="9275828" cy="8116350"/>
            <a:chOff x="0" y="0"/>
            <a:chExt cx="812800" cy="711200"/>
          </a:xfrm>
        </p:grpSpPr>
        <p:sp>
          <p:nvSpPr>
            <p:cNvPr name="Freeform 8" id="8"/>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9" id="9"/>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sp>
        <p:nvSpPr>
          <p:cNvPr name="Freeform 10" id="10"/>
          <p:cNvSpPr/>
          <p:nvPr/>
        </p:nvSpPr>
        <p:spPr>
          <a:xfrm flipH="false" flipV="false" rot="0">
            <a:off x="1028700" y="2890292"/>
            <a:ext cx="13030227" cy="7333399"/>
          </a:xfrm>
          <a:custGeom>
            <a:avLst/>
            <a:gdLst/>
            <a:ahLst/>
            <a:cxnLst/>
            <a:rect r="r" b="b" t="t" l="l"/>
            <a:pathLst>
              <a:path h="7333399" w="13030227">
                <a:moveTo>
                  <a:pt x="0" y="0"/>
                </a:moveTo>
                <a:lnTo>
                  <a:pt x="13030227" y="0"/>
                </a:lnTo>
                <a:lnTo>
                  <a:pt x="13030227" y="7333399"/>
                </a:lnTo>
                <a:lnTo>
                  <a:pt x="0" y="7333399"/>
                </a:lnTo>
                <a:lnTo>
                  <a:pt x="0" y="0"/>
                </a:lnTo>
                <a:close/>
              </a:path>
            </a:pathLst>
          </a:custGeom>
          <a:blipFill>
            <a:blip r:embed="rId6"/>
            <a:stretch>
              <a:fillRect l="0" t="0" r="0" b="0"/>
            </a:stretch>
          </a:blipFill>
        </p:spPr>
      </p:sp>
      <p:sp>
        <p:nvSpPr>
          <p:cNvPr name="TextBox 11" id="11"/>
          <p:cNvSpPr txBox="true"/>
          <p:nvPr/>
        </p:nvSpPr>
        <p:spPr>
          <a:xfrm rot="0">
            <a:off x="1028700" y="1665210"/>
            <a:ext cx="13355576" cy="1129832"/>
          </a:xfrm>
          <a:prstGeom prst="rect">
            <a:avLst/>
          </a:prstGeom>
        </p:spPr>
        <p:txBody>
          <a:bodyPr anchor="t" rtlCol="false" tIns="0" lIns="0" bIns="0" rIns="0">
            <a:spAutoFit/>
          </a:bodyPr>
          <a:lstStyle/>
          <a:p>
            <a:pPr algn="l" marL="0" indent="0" lvl="0">
              <a:lnSpc>
                <a:spcPts val="3048"/>
              </a:lnSpc>
              <a:spcBef>
                <a:spcPct val="0"/>
              </a:spcBef>
            </a:pPr>
            <a:r>
              <a:rPr lang="en-US" sz="2177">
                <a:solidFill>
                  <a:srgbClr val="000000"/>
                </a:solidFill>
                <a:latin typeface="Garet"/>
                <a:ea typeface="Garet"/>
                <a:cs typeface="Garet"/>
                <a:sym typeface="Garet"/>
              </a:rPr>
              <a:t>The Data Flow Diagram illustrates how information moves through the Real Estate Management System. It maps the journey of data between users, agents, and the central database, showing key processes and their interconnections.</a:t>
            </a:r>
          </a:p>
        </p:txBody>
      </p:sp>
      <p:sp>
        <p:nvSpPr>
          <p:cNvPr name="TextBox 12" id="12"/>
          <p:cNvSpPr txBox="true"/>
          <p:nvPr/>
        </p:nvSpPr>
        <p:spPr>
          <a:xfrm rot="0">
            <a:off x="1028700" y="977491"/>
            <a:ext cx="7671735" cy="725819"/>
          </a:xfrm>
          <a:prstGeom prst="rect">
            <a:avLst/>
          </a:prstGeom>
        </p:spPr>
        <p:txBody>
          <a:bodyPr anchor="t" rtlCol="false" tIns="0" lIns="0" bIns="0" rIns="0">
            <a:spAutoFit/>
          </a:bodyPr>
          <a:lstStyle/>
          <a:p>
            <a:pPr algn="l" marL="0" indent="0" lvl="0">
              <a:lnSpc>
                <a:spcPts val="5897"/>
              </a:lnSpc>
            </a:pPr>
            <a:r>
              <a:rPr lang="en-US" b="true" sz="4794" spc="-244">
                <a:solidFill>
                  <a:srgbClr val="102C57"/>
                </a:solidFill>
                <a:latin typeface="Garet Bold"/>
                <a:ea typeface="Garet Bold"/>
                <a:cs typeface="Garet Bold"/>
                <a:sym typeface="Garet Bold"/>
              </a:rPr>
              <a:t>Data Flow Diagram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FD5D5">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951203" y="2619460"/>
            <a:ext cx="10341604" cy="9048903"/>
            <a:chOff x="0" y="0"/>
            <a:chExt cx="812800" cy="711200"/>
          </a:xfrm>
        </p:grpSpPr>
        <p:sp>
          <p:nvSpPr>
            <p:cNvPr name="Freeform 3" id="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4" id="4"/>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10800000">
            <a:off x="12356109" y="-727230"/>
            <a:ext cx="11412035" cy="9985530"/>
            <a:chOff x="0" y="0"/>
            <a:chExt cx="812800" cy="711200"/>
          </a:xfrm>
        </p:grpSpPr>
        <p:sp>
          <p:nvSpPr>
            <p:cNvPr name="Freeform 6" id="6"/>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7" id="7"/>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2718409" y="620841"/>
            <a:ext cx="543813" cy="407859"/>
          </a:xfrm>
          <a:custGeom>
            <a:avLst/>
            <a:gdLst/>
            <a:ahLst/>
            <a:cxnLst/>
            <a:rect r="r" b="b" t="t" l="l"/>
            <a:pathLst>
              <a:path h="407859" w="543813">
                <a:moveTo>
                  <a:pt x="0" y="0"/>
                </a:moveTo>
                <a:lnTo>
                  <a:pt x="543813" y="0"/>
                </a:lnTo>
                <a:lnTo>
                  <a:pt x="543813" y="407859"/>
                </a:lnTo>
                <a:lnTo>
                  <a:pt x="0" y="407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true" rot="-1289532">
            <a:off x="-2618048" y="-1848121"/>
            <a:ext cx="9566967" cy="5098503"/>
          </a:xfrm>
          <a:custGeom>
            <a:avLst/>
            <a:gdLst/>
            <a:ahLst/>
            <a:cxnLst/>
            <a:rect r="r" b="b" t="t" l="l"/>
            <a:pathLst>
              <a:path h="5098503" w="9566967">
                <a:moveTo>
                  <a:pt x="0" y="5098503"/>
                </a:moveTo>
                <a:lnTo>
                  <a:pt x="9566967" y="5098503"/>
                </a:lnTo>
                <a:lnTo>
                  <a:pt x="9566967" y="0"/>
                </a:lnTo>
                <a:lnTo>
                  <a:pt x="0" y="0"/>
                </a:lnTo>
                <a:lnTo>
                  <a:pt x="0" y="5098503"/>
                </a:lnTo>
                <a:close/>
              </a:path>
            </a:pathLst>
          </a:custGeom>
          <a:blipFill>
            <a:blip r:embed="rId4">
              <a:alphaModFix amt="4000"/>
              <a:extLst>
                <a:ext uri="{96DAC541-7B7A-43D3-8B79-37D633B846F1}">
                  <asvg:svgBlip xmlns:asvg="http://schemas.microsoft.com/office/drawing/2016/SVG/main" r:embed="rId5"/>
                </a:ext>
              </a:extLst>
            </a:blip>
            <a:stretch>
              <a:fillRect l="0" t="0" r="0" b="-45188"/>
            </a:stretch>
          </a:blipFill>
        </p:spPr>
      </p:sp>
      <p:sp>
        <p:nvSpPr>
          <p:cNvPr name="Freeform 10" id="10"/>
          <p:cNvSpPr/>
          <p:nvPr/>
        </p:nvSpPr>
        <p:spPr>
          <a:xfrm flipH="false" flipV="false" rot="0">
            <a:off x="11535679" y="7221650"/>
            <a:ext cx="637718" cy="557206"/>
          </a:xfrm>
          <a:custGeom>
            <a:avLst/>
            <a:gdLst/>
            <a:ahLst/>
            <a:cxnLst/>
            <a:rect r="r" b="b" t="t" l="l"/>
            <a:pathLst>
              <a:path h="557206" w="637718">
                <a:moveTo>
                  <a:pt x="0" y="0"/>
                </a:moveTo>
                <a:lnTo>
                  <a:pt x="637718" y="0"/>
                </a:lnTo>
                <a:lnTo>
                  <a:pt x="637718" y="557206"/>
                </a:lnTo>
                <a:lnTo>
                  <a:pt x="0" y="5572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1507104" y="8497296"/>
            <a:ext cx="637718" cy="557206"/>
          </a:xfrm>
          <a:custGeom>
            <a:avLst/>
            <a:gdLst/>
            <a:ahLst/>
            <a:cxnLst/>
            <a:rect r="r" b="b" t="t" l="l"/>
            <a:pathLst>
              <a:path h="557206" w="637718">
                <a:moveTo>
                  <a:pt x="0" y="0"/>
                </a:moveTo>
                <a:lnTo>
                  <a:pt x="637718" y="0"/>
                </a:lnTo>
                <a:lnTo>
                  <a:pt x="637718" y="557207"/>
                </a:lnTo>
                <a:lnTo>
                  <a:pt x="0" y="5572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34369" y="2619460"/>
            <a:ext cx="11501310" cy="7667540"/>
          </a:xfrm>
          <a:custGeom>
            <a:avLst/>
            <a:gdLst/>
            <a:ahLst/>
            <a:cxnLst/>
            <a:rect r="r" b="b" t="t" l="l"/>
            <a:pathLst>
              <a:path h="7667540" w="11501310">
                <a:moveTo>
                  <a:pt x="0" y="0"/>
                </a:moveTo>
                <a:lnTo>
                  <a:pt x="11501310" y="0"/>
                </a:lnTo>
                <a:lnTo>
                  <a:pt x="11501310" y="7667540"/>
                </a:lnTo>
                <a:lnTo>
                  <a:pt x="0" y="7667540"/>
                </a:lnTo>
                <a:lnTo>
                  <a:pt x="0" y="0"/>
                </a:lnTo>
                <a:close/>
              </a:path>
            </a:pathLst>
          </a:custGeom>
          <a:blipFill>
            <a:blip r:embed="rId8"/>
            <a:stretch>
              <a:fillRect l="0" t="0" r="0" b="0"/>
            </a:stretch>
          </a:blipFill>
        </p:spPr>
      </p:sp>
      <p:sp>
        <p:nvSpPr>
          <p:cNvPr name="TextBox 13" id="13"/>
          <p:cNvSpPr txBox="true"/>
          <p:nvPr/>
        </p:nvSpPr>
        <p:spPr>
          <a:xfrm rot="0">
            <a:off x="775578" y="1334877"/>
            <a:ext cx="12916927" cy="1217907"/>
          </a:xfrm>
          <a:prstGeom prst="rect">
            <a:avLst/>
          </a:prstGeom>
        </p:spPr>
        <p:txBody>
          <a:bodyPr anchor="t" rtlCol="false" tIns="0" lIns="0" bIns="0" rIns="0">
            <a:spAutoFit/>
          </a:bodyPr>
          <a:lstStyle/>
          <a:p>
            <a:pPr algn="l" marL="0" indent="0" lvl="0">
              <a:lnSpc>
                <a:spcPts val="3235"/>
              </a:lnSpc>
              <a:spcBef>
                <a:spcPct val="0"/>
              </a:spcBef>
            </a:pPr>
            <a:r>
              <a:rPr lang="en-US" sz="2310">
                <a:solidFill>
                  <a:srgbClr val="000000"/>
                </a:solidFill>
                <a:latin typeface="Garet"/>
                <a:ea typeface="Garet"/>
                <a:cs typeface="Garet"/>
                <a:sym typeface="Garet"/>
              </a:rPr>
              <a:t>The Entity-Relationship diagram illustrates the database structure of REMS, showing how different entities connect and interact within the system to manage real estate operations effectively.</a:t>
            </a:r>
          </a:p>
        </p:txBody>
      </p:sp>
      <p:sp>
        <p:nvSpPr>
          <p:cNvPr name="TextBox 14" id="14"/>
          <p:cNvSpPr txBox="true"/>
          <p:nvPr/>
        </p:nvSpPr>
        <p:spPr>
          <a:xfrm rot="0">
            <a:off x="751235" y="551823"/>
            <a:ext cx="7671735" cy="725819"/>
          </a:xfrm>
          <a:prstGeom prst="rect">
            <a:avLst/>
          </a:prstGeom>
        </p:spPr>
        <p:txBody>
          <a:bodyPr anchor="t" rtlCol="false" tIns="0" lIns="0" bIns="0" rIns="0">
            <a:spAutoFit/>
          </a:bodyPr>
          <a:lstStyle/>
          <a:p>
            <a:pPr algn="l" marL="0" indent="0" lvl="0">
              <a:lnSpc>
                <a:spcPts val="5897"/>
              </a:lnSpc>
            </a:pPr>
            <a:r>
              <a:rPr lang="en-US" b="true" sz="4794" spc="-244">
                <a:solidFill>
                  <a:srgbClr val="102C57"/>
                </a:solidFill>
                <a:latin typeface="Garet Bold"/>
                <a:ea typeface="Garet Bold"/>
                <a:cs typeface="Garet Bold"/>
                <a:sym typeface="Garet Bold"/>
              </a:rPr>
              <a:t>ER Diagram</a:t>
            </a:r>
          </a:p>
        </p:txBody>
      </p:sp>
      <p:sp>
        <p:nvSpPr>
          <p:cNvPr name="TextBox 15" id="15"/>
          <p:cNvSpPr txBox="true"/>
          <p:nvPr/>
        </p:nvSpPr>
        <p:spPr>
          <a:xfrm rot="0">
            <a:off x="12173397" y="7124862"/>
            <a:ext cx="5343576" cy="731733"/>
          </a:xfrm>
          <a:prstGeom prst="rect">
            <a:avLst/>
          </a:prstGeom>
        </p:spPr>
        <p:txBody>
          <a:bodyPr anchor="t" rtlCol="false" tIns="0" lIns="0" bIns="0" rIns="0">
            <a:spAutoFit/>
          </a:bodyPr>
          <a:lstStyle/>
          <a:p>
            <a:pPr algn="l" marL="0" indent="0" lvl="0">
              <a:lnSpc>
                <a:spcPts val="1970"/>
              </a:lnSpc>
              <a:spcBef>
                <a:spcPct val="0"/>
              </a:spcBef>
            </a:pPr>
            <a:r>
              <a:rPr lang="en-US" sz="1407">
                <a:solidFill>
                  <a:srgbClr val="000000"/>
                </a:solidFill>
                <a:latin typeface="Garet"/>
                <a:ea typeface="Garet"/>
                <a:cs typeface="Garet"/>
                <a:sym typeface="Garet"/>
              </a:rPr>
              <a:t>Property, Owner, Agent, Customer - These primary entities form the foundation of the REMS database, each with unique attributes and identifiers.</a:t>
            </a:r>
          </a:p>
        </p:txBody>
      </p:sp>
      <p:sp>
        <p:nvSpPr>
          <p:cNvPr name="TextBox 16" id="16"/>
          <p:cNvSpPr txBox="true"/>
          <p:nvPr/>
        </p:nvSpPr>
        <p:spPr>
          <a:xfrm rot="0">
            <a:off x="12173397" y="8468721"/>
            <a:ext cx="5699986" cy="789579"/>
          </a:xfrm>
          <a:prstGeom prst="rect">
            <a:avLst/>
          </a:prstGeom>
        </p:spPr>
        <p:txBody>
          <a:bodyPr anchor="t" rtlCol="false" tIns="0" lIns="0" bIns="0" rIns="0">
            <a:spAutoFit/>
          </a:bodyPr>
          <a:lstStyle/>
          <a:p>
            <a:pPr algn="l" marL="0" indent="0" lvl="0">
              <a:lnSpc>
                <a:spcPts val="2103"/>
              </a:lnSpc>
              <a:spcBef>
                <a:spcPct val="0"/>
              </a:spcBef>
            </a:pPr>
            <a:r>
              <a:rPr lang="en-US" sz="1502">
                <a:solidFill>
                  <a:srgbClr val="000000"/>
                </a:solidFill>
                <a:latin typeface="Garet"/>
                <a:ea typeface="Garet"/>
                <a:cs typeface="Garet"/>
                <a:sym typeface="Garet"/>
              </a:rPr>
              <a:t>Cardinalities define how entities relate: one owner can have many properties, agents manage multiple transactions, customers can make multiple payments.</a:t>
            </a:r>
          </a:p>
        </p:txBody>
      </p:sp>
      <p:sp>
        <p:nvSpPr>
          <p:cNvPr name="TextBox 17" id="17"/>
          <p:cNvSpPr txBox="true"/>
          <p:nvPr/>
        </p:nvSpPr>
        <p:spPr>
          <a:xfrm rot="0">
            <a:off x="12173397" y="6558230"/>
            <a:ext cx="2950370" cy="447351"/>
          </a:xfrm>
          <a:prstGeom prst="rect">
            <a:avLst/>
          </a:prstGeom>
        </p:spPr>
        <p:txBody>
          <a:bodyPr anchor="t" rtlCol="false" tIns="0" lIns="0" bIns="0" rIns="0">
            <a:spAutoFit/>
          </a:bodyPr>
          <a:lstStyle/>
          <a:p>
            <a:pPr algn="l" marL="0" indent="0" lvl="0">
              <a:lnSpc>
                <a:spcPts val="3606"/>
              </a:lnSpc>
              <a:spcBef>
                <a:spcPct val="0"/>
              </a:spcBef>
            </a:pPr>
            <a:r>
              <a:rPr lang="en-US" b="true" sz="2575">
                <a:solidFill>
                  <a:srgbClr val="000000"/>
                </a:solidFill>
                <a:latin typeface="Garet Bold"/>
                <a:ea typeface="Garet Bold"/>
                <a:cs typeface="Garet Bold"/>
                <a:sym typeface="Garet Bold"/>
              </a:rPr>
              <a:t>Core Entities</a:t>
            </a:r>
          </a:p>
        </p:txBody>
      </p:sp>
      <p:sp>
        <p:nvSpPr>
          <p:cNvPr name="TextBox 18" id="18"/>
          <p:cNvSpPr txBox="true"/>
          <p:nvPr/>
        </p:nvSpPr>
        <p:spPr>
          <a:xfrm rot="0">
            <a:off x="12173397" y="7942319"/>
            <a:ext cx="3738538" cy="447351"/>
          </a:xfrm>
          <a:prstGeom prst="rect">
            <a:avLst/>
          </a:prstGeom>
        </p:spPr>
        <p:txBody>
          <a:bodyPr anchor="t" rtlCol="false" tIns="0" lIns="0" bIns="0" rIns="0">
            <a:spAutoFit/>
          </a:bodyPr>
          <a:lstStyle/>
          <a:p>
            <a:pPr algn="l" marL="0" indent="0" lvl="0">
              <a:lnSpc>
                <a:spcPts val="3606"/>
              </a:lnSpc>
              <a:spcBef>
                <a:spcPct val="0"/>
              </a:spcBef>
            </a:pPr>
            <a:r>
              <a:rPr lang="en-US" b="true" sz="2575">
                <a:solidFill>
                  <a:srgbClr val="000000"/>
                </a:solidFill>
                <a:latin typeface="Garet Bold"/>
                <a:ea typeface="Garet Bold"/>
                <a:cs typeface="Garet Bold"/>
                <a:sym typeface="Garet Bold"/>
              </a:rPr>
              <a:t>Relationships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FD5D5">
                <a:alpha val="100000"/>
              </a:srgbClr>
            </a:gs>
            <a:gs pos="100000">
              <a:srgbClr val="FFFFFF">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0236072" y="22341"/>
            <a:ext cx="8051928" cy="10376743"/>
            <a:chOff x="0" y="0"/>
            <a:chExt cx="1202271" cy="1549400"/>
          </a:xfrm>
        </p:grpSpPr>
        <p:sp>
          <p:nvSpPr>
            <p:cNvPr name="Freeform 3" id="3"/>
            <p:cNvSpPr/>
            <p:nvPr/>
          </p:nvSpPr>
          <p:spPr>
            <a:xfrm flipH="false" flipV="false" rot="0">
              <a:off x="0" y="0"/>
              <a:ext cx="1202309" cy="1549400"/>
            </a:xfrm>
            <a:custGeom>
              <a:avLst/>
              <a:gdLst/>
              <a:ahLst/>
              <a:cxnLst/>
              <a:rect r="r" b="b" t="t" l="l"/>
              <a:pathLst>
                <a:path h="1549400" w="1202309">
                  <a:moveTo>
                    <a:pt x="313309" y="0"/>
                  </a:moveTo>
                  <a:cubicBezTo>
                    <a:pt x="211709" y="172212"/>
                    <a:pt x="6731" y="518160"/>
                    <a:pt x="0" y="524891"/>
                  </a:cubicBezTo>
                  <a:lnTo>
                    <a:pt x="601091" y="1549400"/>
                  </a:lnTo>
                  <a:lnTo>
                    <a:pt x="1202309" y="1549400"/>
                  </a:lnTo>
                  <a:lnTo>
                    <a:pt x="1202309" y="0"/>
                  </a:lnTo>
                  <a:close/>
                </a:path>
              </a:pathLst>
            </a:custGeom>
            <a:blipFill>
              <a:blip r:embed="rId2"/>
              <a:stretch>
                <a:fillRect l="-2111" t="0" r="-2111" b="0"/>
              </a:stretch>
            </a:blipFill>
          </p:spPr>
        </p:sp>
      </p:grpSp>
      <p:grpSp>
        <p:nvGrpSpPr>
          <p:cNvPr name="Group 4" id="4"/>
          <p:cNvGrpSpPr/>
          <p:nvPr/>
        </p:nvGrpSpPr>
        <p:grpSpPr>
          <a:xfrm rot="0">
            <a:off x="7600969" y="5001987"/>
            <a:ext cx="6958547" cy="5897692"/>
            <a:chOff x="0" y="0"/>
            <a:chExt cx="812800" cy="688886"/>
          </a:xfrm>
        </p:grpSpPr>
        <p:sp>
          <p:nvSpPr>
            <p:cNvPr name="Freeform 5" id="5"/>
            <p:cNvSpPr/>
            <p:nvPr/>
          </p:nvSpPr>
          <p:spPr>
            <a:xfrm flipH="false" flipV="false" rot="0">
              <a:off x="0" y="0"/>
              <a:ext cx="812800" cy="688886"/>
            </a:xfrm>
            <a:custGeom>
              <a:avLst/>
              <a:gdLst/>
              <a:ahLst/>
              <a:cxnLst/>
              <a:rect r="r" b="b" t="t" l="l"/>
              <a:pathLst>
                <a:path h="688886" w="812800">
                  <a:moveTo>
                    <a:pt x="406400" y="0"/>
                  </a:moveTo>
                  <a:lnTo>
                    <a:pt x="812800" y="688886"/>
                  </a:lnTo>
                  <a:lnTo>
                    <a:pt x="0" y="688886"/>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6" id="6"/>
            <p:cNvSpPr txBox="true"/>
            <p:nvPr/>
          </p:nvSpPr>
          <p:spPr>
            <a:xfrm>
              <a:off x="127000" y="281740"/>
              <a:ext cx="558800" cy="357940"/>
            </a:xfrm>
            <a:prstGeom prst="rect">
              <a:avLst/>
            </a:prstGeom>
          </p:spPr>
          <p:txBody>
            <a:bodyPr anchor="ctr" rtlCol="false" tIns="50800" lIns="50800" bIns="50800" rIns="50800"/>
            <a:lstStyle/>
            <a:p>
              <a:pPr algn="ctr" marL="0" indent="0" lvl="0">
                <a:lnSpc>
                  <a:spcPts val="2659"/>
                </a:lnSpc>
              </a:pPr>
            </a:p>
          </p:txBody>
        </p:sp>
      </p:grpSp>
      <p:grpSp>
        <p:nvGrpSpPr>
          <p:cNvPr name="Group 7" id="7"/>
          <p:cNvGrpSpPr/>
          <p:nvPr/>
        </p:nvGrpSpPr>
        <p:grpSpPr>
          <a:xfrm rot="-3511628">
            <a:off x="9281385" y="421539"/>
            <a:ext cx="4057394" cy="948845"/>
            <a:chOff x="0" y="0"/>
            <a:chExt cx="2606736" cy="609600"/>
          </a:xfrm>
        </p:grpSpPr>
        <p:sp>
          <p:nvSpPr>
            <p:cNvPr name="Freeform 8" id="8"/>
            <p:cNvSpPr/>
            <p:nvPr/>
          </p:nvSpPr>
          <p:spPr>
            <a:xfrm flipH="false" flipV="false" rot="0">
              <a:off x="0" y="0"/>
              <a:ext cx="2606736" cy="609600"/>
            </a:xfrm>
            <a:custGeom>
              <a:avLst/>
              <a:gdLst/>
              <a:ahLst/>
              <a:cxnLst/>
              <a:rect r="r" b="b" t="t" l="l"/>
              <a:pathLst>
                <a:path h="609600" w="2606736">
                  <a:moveTo>
                    <a:pt x="203200" y="0"/>
                  </a:moveTo>
                  <a:lnTo>
                    <a:pt x="2403536" y="0"/>
                  </a:lnTo>
                  <a:lnTo>
                    <a:pt x="2606736" y="609600"/>
                  </a:lnTo>
                  <a:lnTo>
                    <a:pt x="0" y="609600"/>
                  </a:lnTo>
                  <a:lnTo>
                    <a:pt x="203200" y="0"/>
                  </a:lnTo>
                  <a:close/>
                </a:path>
              </a:pathLst>
            </a:custGeom>
            <a:gradFill rotWithShape="true">
              <a:gsLst>
                <a:gs pos="0">
                  <a:srgbClr val="162F56">
                    <a:alpha val="100000"/>
                  </a:srgbClr>
                </a:gs>
                <a:gs pos="100000">
                  <a:srgbClr val="18407D">
                    <a:alpha val="100000"/>
                  </a:srgbClr>
                </a:gs>
              </a:gsLst>
              <a:lin ang="0"/>
            </a:gradFill>
          </p:spPr>
        </p:sp>
        <p:sp>
          <p:nvSpPr>
            <p:cNvPr name="TextBox 9" id="9"/>
            <p:cNvSpPr txBox="true"/>
            <p:nvPr/>
          </p:nvSpPr>
          <p:spPr>
            <a:xfrm>
              <a:off x="127000" y="-38100"/>
              <a:ext cx="2352736" cy="647700"/>
            </a:xfrm>
            <a:prstGeom prst="rect">
              <a:avLst/>
            </a:prstGeom>
          </p:spPr>
          <p:txBody>
            <a:bodyPr anchor="ctr" rtlCol="false" tIns="50800" lIns="50800" bIns="50800" rIns="50800"/>
            <a:lstStyle/>
            <a:p>
              <a:pPr algn="ctr" marL="0" indent="0" lvl="0">
                <a:lnSpc>
                  <a:spcPts val="2659"/>
                </a:lnSpc>
              </a:pPr>
            </a:p>
          </p:txBody>
        </p:sp>
      </p:grpSp>
      <p:sp>
        <p:nvSpPr>
          <p:cNvPr name="TextBox 10" id="10"/>
          <p:cNvSpPr txBox="true"/>
          <p:nvPr/>
        </p:nvSpPr>
        <p:spPr>
          <a:xfrm rot="0">
            <a:off x="1046628" y="1889169"/>
            <a:ext cx="8817581" cy="2405965"/>
          </a:xfrm>
          <a:prstGeom prst="rect">
            <a:avLst/>
          </a:prstGeom>
        </p:spPr>
        <p:txBody>
          <a:bodyPr anchor="t" rtlCol="false" tIns="0" lIns="0" bIns="0" rIns="0">
            <a:spAutoFit/>
          </a:bodyPr>
          <a:lstStyle/>
          <a:p>
            <a:pPr algn="l" marL="0" indent="0" lvl="0">
              <a:lnSpc>
                <a:spcPts val="3887"/>
              </a:lnSpc>
              <a:spcBef>
                <a:spcPct val="0"/>
              </a:spcBef>
            </a:pPr>
            <a:r>
              <a:rPr lang="en-US" sz="2776">
                <a:solidFill>
                  <a:srgbClr val="000000"/>
                </a:solidFill>
                <a:latin typeface="Garet"/>
                <a:ea typeface="Garet"/>
                <a:cs typeface="Garet"/>
                <a:sym typeface="Garet"/>
              </a:rPr>
              <a:t>The Real Estate Management System is built using modern, industry-standard tools and technologies to ensure reliability, scalability, and maintainability throughout the development lifecycle.</a:t>
            </a:r>
          </a:p>
        </p:txBody>
      </p:sp>
      <p:sp>
        <p:nvSpPr>
          <p:cNvPr name="Freeform 11" id="11"/>
          <p:cNvSpPr/>
          <p:nvPr/>
        </p:nvSpPr>
        <p:spPr>
          <a:xfrm flipH="false" flipV="true" rot="-1289532">
            <a:off x="-2780742" y="-946307"/>
            <a:ext cx="7411911" cy="3950014"/>
          </a:xfrm>
          <a:custGeom>
            <a:avLst/>
            <a:gdLst/>
            <a:ahLst/>
            <a:cxnLst/>
            <a:rect r="r" b="b" t="t" l="l"/>
            <a:pathLst>
              <a:path h="3950014" w="7411911">
                <a:moveTo>
                  <a:pt x="0" y="3950014"/>
                </a:moveTo>
                <a:lnTo>
                  <a:pt x="7411911" y="3950014"/>
                </a:lnTo>
                <a:lnTo>
                  <a:pt x="7411911" y="0"/>
                </a:lnTo>
                <a:lnTo>
                  <a:pt x="0" y="0"/>
                </a:lnTo>
                <a:lnTo>
                  <a:pt x="0" y="3950014"/>
                </a:lnTo>
                <a:close/>
              </a:path>
            </a:pathLst>
          </a:custGeom>
          <a:blipFill>
            <a:blip r:embed="rId3">
              <a:alphaModFix amt="4000"/>
              <a:extLst>
                <a:ext uri="{96DAC541-7B7A-43D3-8B79-37D633B846F1}">
                  <asvg:svgBlip xmlns:asvg="http://schemas.microsoft.com/office/drawing/2016/SVG/main" r:embed="rId4"/>
                </a:ext>
              </a:extLst>
            </a:blip>
            <a:stretch>
              <a:fillRect l="0" t="0" r="0" b="-45188"/>
            </a:stretch>
          </a:blipFill>
        </p:spPr>
      </p:sp>
      <p:sp>
        <p:nvSpPr>
          <p:cNvPr name="TextBox 12" id="12"/>
          <p:cNvSpPr txBox="true"/>
          <p:nvPr/>
        </p:nvSpPr>
        <p:spPr>
          <a:xfrm rot="0">
            <a:off x="1028700" y="1009650"/>
            <a:ext cx="7733212" cy="771559"/>
          </a:xfrm>
          <a:prstGeom prst="rect">
            <a:avLst/>
          </a:prstGeom>
        </p:spPr>
        <p:txBody>
          <a:bodyPr anchor="t" rtlCol="false" tIns="0" lIns="0" bIns="0" rIns="0">
            <a:spAutoFit/>
          </a:bodyPr>
          <a:lstStyle/>
          <a:p>
            <a:pPr algn="l" marL="0" indent="0" lvl="0">
              <a:lnSpc>
                <a:spcPts val="6139"/>
              </a:lnSpc>
            </a:pPr>
            <a:r>
              <a:rPr lang="en-US" b="true" sz="4991" spc="-254">
                <a:solidFill>
                  <a:srgbClr val="102C57"/>
                </a:solidFill>
                <a:latin typeface="Garet Bold"/>
                <a:ea typeface="Garet Bold"/>
                <a:cs typeface="Garet Bold"/>
                <a:sym typeface="Garet Bold"/>
              </a:rPr>
              <a:t>Tools &amp; Technologies</a:t>
            </a:r>
          </a:p>
        </p:txBody>
      </p:sp>
      <p:grpSp>
        <p:nvGrpSpPr>
          <p:cNvPr name="Group 13" id="13"/>
          <p:cNvGrpSpPr/>
          <p:nvPr/>
        </p:nvGrpSpPr>
        <p:grpSpPr>
          <a:xfrm rot="0">
            <a:off x="3241633" y="9612612"/>
            <a:ext cx="4359337" cy="975659"/>
            <a:chOff x="0" y="0"/>
            <a:chExt cx="1790672" cy="400769"/>
          </a:xfrm>
        </p:grpSpPr>
        <p:sp>
          <p:nvSpPr>
            <p:cNvPr name="Freeform 14" id="14"/>
            <p:cNvSpPr/>
            <p:nvPr/>
          </p:nvSpPr>
          <p:spPr>
            <a:xfrm flipH="false" flipV="false" rot="0">
              <a:off x="0" y="0"/>
              <a:ext cx="1790672" cy="400769"/>
            </a:xfrm>
            <a:custGeom>
              <a:avLst/>
              <a:gdLst/>
              <a:ahLst/>
              <a:cxnLst/>
              <a:rect r="r" b="b" t="t" l="l"/>
              <a:pathLst>
                <a:path h="400769" w="1790672">
                  <a:moveTo>
                    <a:pt x="203200" y="0"/>
                  </a:moveTo>
                  <a:lnTo>
                    <a:pt x="1790672" y="0"/>
                  </a:lnTo>
                  <a:lnTo>
                    <a:pt x="1587472" y="400769"/>
                  </a:lnTo>
                  <a:lnTo>
                    <a:pt x="0" y="400769"/>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15" id="15"/>
            <p:cNvSpPr txBox="true"/>
            <p:nvPr/>
          </p:nvSpPr>
          <p:spPr>
            <a:xfrm>
              <a:off x="101600" y="-38100"/>
              <a:ext cx="1587472" cy="438869"/>
            </a:xfrm>
            <a:prstGeom prst="rect">
              <a:avLst/>
            </a:prstGeom>
          </p:spPr>
          <p:txBody>
            <a:bodyPr anchor="ctr" rtlCol="false" tIns="50800" lIns="50800" bIns="50800" rIns="50800"/>
            <a:lstStyle/>
            <a:p>
              <a:pPr algn="ctr" marL="0" indent="0" lvl="0">
                <a:lnSpc>
                  <a:spcPts val="2659"/>
                </a:lnSpc>
              </a:pPr>
            </a:p>
          </p:txBody>
        </p:sp>
      </p:grpSp>
      <p:grpSp>
        <p:nvGrpSpPr>
          <p:cNvPr name="Group 16" id="16"/>
          <p:cNvGrpSpPr/>
          <p:nvPr/>
        </p:nvGrpSpPr>
        <p:grpSpPr>
          <a:xfrm rot="0">
            <a:off x="-2675027" y="9612612"/>
            <a:ext cx="6651766" cy="975659"/>
            <a:chOff x="0" y="0"/>
            <a:chExt cx="2732326" cy="400769"/>
          </a:xfrm>
        </p:grpSpPr>
        <p:sp>
          <p:nvSpPr>
            <p:cNvPr name="Freeform 17" id="17"/>
            <p:cNvSpPr/>
            <p:nvPr/>
          </p:nvSpPr>
          <p:spPr>
            <a:xfrm flipH="false" flipV="false" rot="0">
              <a:off x="0" y="0"/>
              <a:ext cx="2732326" cy="400769"/>
            </a:xfrm>
            <a:custGeom>
              <a:avLst/>
              <a:gdLst/>
              <a:ahLst/>
              <a:cxnLst/>
              <a:rect r="r" b="b" t="t" l="l"/>
              <a:pathLst>
                <a:path h="400769" w="2732326">
                  <a:moveTo>
                    <a:pt x="203200" y="0"/>
                  </a:moveTo>
                  <a:lnTo>
                    <a:pt x="2732326" y="0"/>
                  </a:lnTo>
                  <a:lnTo>
                    <a:pt x="2529126" y="400769"/>
                  </a:lnTo>
                  <a:lnTo>
                    <a:pt x="0" y="400769"/>
                  </a:lnTo>
                  <a:lnTo>
                    <a:pt x="203200" y="0"/>
                  </a:lnTo>
                  <a:close/>
                </a:path>
              </a:pathLst>
            </a:custGeom>
            <a:gradFill rotWithShape="true">
              <a:gsLst>
                <a:gs pos="0">
                  <a:srgbClr val="162F56">
                    <a:alpha val="100000"/>
                  </a:srgbClr>
                </a:gs>
                <a:gs pos="100000">
                  <a:srgbClr val="18407D">
                    <a:alpha val="100000"/>
                  </a:srgbClr>
                </a:gs>
              </a:gsLst>
              <a:lin ang="0"/>
            </a:gradFill>
          </p:spPr>
        </p:sp>
        <p:sp>
          <p:nvSpPr>
            <p:cNvPr name="TextBox 18" id="18"/>
            <p:cNvSpPr txBox="true"/>
            <p:nvPr/>
          </p:nvSpPr>
          <p:spPr>
            <a:xfrm>
              <a:off x="101600" y="-38100"/>
              <a:ext cx="2529126" cy="438869"/>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925214" y="5001987"/>
            <a:ext cx="3855918" cy="1311176"/>
            <a:chOff x="0" y="0"/>
            <a:chExt cx="2054155" cy="698500"/>
          </a:xfrm>
        </p:grpSpPr>
        <p:sp>
          <p:nvSpPr>
            <p:cNvPr name="Freeform 20" id="20"/>
            <p:cNvSpPr/>
            <p:nvPr/>
          </p:nvSpPr>
          <p:spPr>
            <a:xfrm flipH="false" flipV="false" rot="0">
              <a:off x="0" y="0"/>
              <a:ext cx="2054155" cy="698500"/>
            </a:xfrm>
            <a:custGeom>
              <a:avLst/>
              <a:gdLst/>
              <a:ahLst/>
              <a:cxnLst/>
              <a:rect r="r" b="b" t="t" l="l"/>
              <a:pathLst>
                <a:path h="698500" w="2054155">
                  <a:moveTo>
                    <a:pt x="2054155" y="349250"/>
                  </a:moveTo>
                  <a:lnTo>
                    <a:pt x="1850955" y="698500"/>
                  </a:lnTo>
                  <a:lnTo>
                    <a:pt x="203200" y="698500"/>
                  </a:lnTo>
                  <a:lnTo>
                    <a:pt x="0" y="349250"/>
                  </a:lnTo>
                  <a:lnTo>
                    <a:pt x="203200" y="0"/>
                  </a:lnTo>
                  <a:lnTo>
                    <a:pt x="1850955" y="0"/>
                  </a:lnTo>
                  <a:lnTo>
                    <a:pt x="2054155" y="349250"/>
                  </a:lnTo>
                  <a:close/>
                </a:path>
              </a:pathLst>
            </a:custGeom>
            <a:gradFill rotWithShape="true">
              <a:gsLst>
                <a:gs pos="0">
                  <a:srgbClr val="1679AB">
                    <a:alpha val="100000"/>
                  </a:srgbClr>
                </a:gs>
                <a:gs pos="100000">
                  <a:srgbClr val="003D5B">
                    <a:alpha val="100000"/>
                  </a:srgbClr>
                </a:gs>
              </a:gsLst>
              <a:lin ang="0"/>
            </a:gradFill>
          </p:spPr>
        </p:sp>
        <p:sp>
          <p:nvSpPr>
            <p:cNvPr name="TextBox 21" id="21"/>
            <p:cNvSpPr txBox="true"/>
            <p:nvPr/>
          </p:nvSpPr>
          <p:spPr>
            <a:xfrm>
              <a:off x="114300" y="-38100"/>
              <a:ext cx="1825555" cy="736600"/>
            </a:xfrm>
            <a:prstGeom prst="rect">
              <a:avLst/>
            </a:prstGeom>
          </p:spPr>
          <p:txBody>
            <a:bodyPr anchor="ctr" rtlCol="false" tIns="50800" lIns="50800" bIns="50800" rIns="50800"/>
            <a:lstStyle/>
            <a:p>
              <a:pPr algn="ctr" marL="0" indent="0" lvl="0">
                <a:lnSpc>
                  <a:spcPts val="2659"/>
                </a:lnSpc>
              </a:pPr>
            </a:p>
          </p:txBody>
        </p:sp>
      </p:grpSp>
      <p:grpSp>
        <p:nvGrpSpPr>
          <p:cNvPr name="Group 22" id="22"/>
          <p:cNvGrpSpPr/>
          <p:nvPr/>
        </p:nvGrpSpPr>
        <p:grpSpPr>
          <a:xfrm rot="0">
            <a:off x="5097077" y="5075359"/>
            <a:ext cx="4046923" cy="1311176"/>
            <a:chOff x="0" y="0"/>
            <a:chExt cx="2155908" cy="698500"/>
          </a:xfrm>
        </p:grpSpPr>
        <p:sp>
          <p:nvSpPr>
            <p:cNvPr name="Freeform 23" id="23"/>
            <p:cNvSpPr/>
            <p:nvPr/>
          </p:nvSpPr>
          <p:spPr>
            <a:xfrm flipH="false" flipV="false" rot="0">
              <a:off x="0" y="0"/>
              <a:ext cx="2155909" cy="698500"/>
            </a:xfrm>
            <a:custGeom>
              <a:avLst/>
              <a:gdLst/>
              <a:ahLst/>
              <a:cxnLst/>
              <a:rect r="r" b="b" t="t" l="l"/>
              <a:pathLst>
                <a:path h="698500" w="2155909">
                  <a:moveTo>
                    <a:pt x="2155909" y="349250"/>
                  </a:moveTo>
                  <a:lnTo>
                    <a:pt x="1952709" y="698500"/>
                  </a:lnTo>
                  <a:lnTo>
                    <a:pt x="203200" y="698500"/>
                  </a:lnTo>
                  <a:lnTo>
                    <a:pt x="0" y="349250"/>
                  </a:lnTo>
                  <a:lnTo>
                    <a:pt x="203200" y="0"/>
                  </a:lnTo>
                  <a:lnTo>
                    <a:pt x="1952709" y="0"/>
                  </a:lnTo>
                  <a:lnTo>
                    <a:pt x="2155909" y="349250"/>
                  </a:lnTo>
                  <a:close/>
                </a:path>
              </a:pathLst>
            </a:custGeom>
            <a:gradFill rotWithShape="true">
              <a:gsLst>
                <a:gs pos="0">
                  <a:srgbClr val="162F56">
                    <a:alpha val="100000"/>
                  </a:srgbClr>
                </a:gs>
                <a:gs pos="100000">
                  <a:srgbClr val="18407D">
                    <a:alpha val="100000"/>
                  </a:srgbClr>
                </a:gs>
              </a:gsLst>
              <a:lin ang="0"/>
            </a:gradFill>
          </p:spPr>
        </p:sp>
        <p:sp>
          <p:nvSpPr>
            <p:cNvPr name="TextBox 24" id="24"/>
            <p:cNvSpPr txBox="true"/>
            <p:nvPr/>
          </p:nvSpPr>
          <p:spPr>
            <a:xfrm>
              <a:off x="114300" y="-38100"/>
              <a:ext cx="1927308" cy="736600"/>
            </a:xfrm>
            <a:prstGeom prst="rect">
              <a:avLst/>
            </a:prstGeom>
          </p:spPr>
          <p:txBody>
            <a:bodyPr anchor="ctr" rtlCol="false" tIns="50800" lIns="50800" bIns="50800" rIns="50800"/>
            <a:lstStyle/>
            <a:p>
              <a:pPr algn="ctr" marL="0" indent="0" lvl="0">
                <a:lnSpc>
                  <a:spcPts val="2659"/>
                </a:lnSpc>
              </a:pPr>
            </a:p>
          </p:txBody>
        </p:sp>
      </p:grpSp>
      <p:grpSp>
        <p:nvGrpSpPr>
          <p:cNvPr name="Group 25" id="25"/>
          <p:cNvGrpSpPr/>
          <p:nvPr/>
        </p:nvGrpSpPr>
        <p:grpSpPr>
          <a:xfrm rot="0">
            <a:off x="5097077" y="6929460"/>
            <a:ext cx="3855918" cy="1311176"/>
            <a:chOff x="0" y="0"/>
            <a:chExt cx="2054155" cy="698500"/>
          </a:xfrm>
        </p:grpSpPr>
        <p:sp>
          <p:nvSpPr>
            <p:cNvPr name="Freeform 26" id="26"/>
            <p:cNvSpPr/>
            <p:nvPr/>
          </p:nvSpPr>
          <p:spPr>
            <a:xfrm flipH="false" flipV="false" rot="0">
              <a:off x="0" y="0"/>
              <a:ext cx="2054155" cy="698500"/>
            </a:xfrm>
            <a:custGeom>
              <a:avLst/>
              <a:gdLst/>
              <a:ahLst/>
              <a:cxnLst/>
              <a:rect r="r" b="b" t="t" l="l"/>
              <a:pathLst>
                <a:path h="698500" w="2054155">
                  <a:moveTo>
                    <a:pt x="2054155" y="349250"/>
                  </a:moveTo>
                  <a:lnTo>
                    <a:pt x="1850955" y="698500"/>
                  </a:lnTo>
                  <a:lnTo>
                    <a:pt x="203200" y="698500"/>
                  </a:lnTo>
                  <a:lnTo>
                    <a:pt x="0" y="349250"/>
                  </a:lnTo>
                  <a:lnTo>
                    <a:pt x="203200" y="0"/>
                  </a:lnTo>
                  <a:lnTo>
                    <a:pt x="1850955" y="0"/>
                  </a:lnTo>
                  <a:lnTo>
                    <a:pt x="2054155" y="349250"/>
                  </a:lnTo>
                  <a:close/>
                </a:path>
              </a:pathLst>
            </a:custGeom>
            <a:gradFill rotWithShape="true">
              <a:gsLst>
                <a:gs pos="0">
                  <a:srgbClr val="1679AB">
                    <a:alpha val="100000"/>
                  </a:srgbClr>
                </a:gs>
                <a:gs pos="100000">
                  <a:srgbClr val="003D5B">
                    <a:alpha val="100000"/>
                  </a:srgbClr>
                </a:gs>
              </a:gsLst>
              <a:lin ang="0"/>
            </a:gradFill>
          </p:spPr>
        </p:sp>
        <p:sp>
          <p:nvSpPr>
            <p:cNvPr name="TextBox 27" id="27"/>
            <p:cNvSpPr txBox="true"/>
            <p:nvPr/>
          </p:nvSpPr>
          <p:spPr>
            <a:xfrm>
              <a:off x="114300" y="-38100"/>
              <a:ext cx="1825555" cy="736600"/>
            </a:xfrm>
            <a:prstGeom prst="rect">
              <a:avLst/>
            </a:prstGeom>
          </p:spPr>
          <p:txBody>
            <a:bodyPr anchor="ctr" rtlCol="false" tIns="50800" lIns="50800" bIns="50800" rIns="50800"/>
            <a:lstStyle/>
            <a:p>
              <a:pPr algn="ctr" marL="0" indent="0" lvl="0">
                <a:lnSpc>
                  <a:spcPts val="2659"/>
                </a:lnSpc>
              </a:pPr>
            </a:p>
          </p:txBody>
        </p:sp>
      </p:grpSp>
      <p:grpSp>
        <p:nvGrpSpPr>
          <p:cNvPr name="Group 28" id="28"/>
          <p:cNvGrpSpPr/>
          <p:nvPr/>
        </p:nvGrpSpPr>
        <p:grpSpPr>
          <a:xfrm rot="0">
            <a:off x="925214" y="6929460"/>
            <a:ext cx="3855918" cy="1311176"/>
            <a:chOff x="0" y="0"/>
            <a:chExt cx="2054155" cy="698500"/>
          </a:xfrm>
        </p:grpSpPr>
        <p:sp>
          <p:nvSpPr>
            <p:cNvPr name="Freeform 29" id="29"/>
            <p:cNvSpPr/>
            <p:nvPr/>
          </p:nvSpPr>
          <p:spPr>
            <a:xfrm flipH="false" flipV="false" rot="0">
              <a:off x="0" y="0"/>
              <a:ext cx="2054155" cy="698500"/>
            </a:xfrm>
            <a:custGeom>
              <a:avLst/>
              <a:gdLst/>
              <a:ahLst/>
              <a:cxnLst/>
              <a:rect r="r" b="b" t="t" l="l"/>
              <a:pathLst>
                <a:path h="698500" w="2054155">
                  <a:moveTo>
                    <a:pt x="2054155" y="349250"/>
                  </a:moveTo>
                  <a:lnTo>
                    <a:pt x="1850955" y="698500"/>
                  </a:lnTo>
                  <a:lnTo>
                    <a:pt x="203200" y="698500"/>
                  </a:lnTo>
                  <a:lnTo>
                    <a:pt x="0" y="349250"/>
                  </a:lnTo>
                  <a:lnTo>
                    <a:pt x="203200" y="0"/>
                  </a:lnTo>
                  <a:lnTo>
                    <a:pt x="1850955" y="0"/>
                  </a:lnTo>
                  <a:lnTo>
                    <a:pt x="2054155" y="349250"/>
                  </a:lnTo>
                  <a:close/>
                </a:path>
              </a:pathLst>
            </a:custGeom>
            <a:gradFill rotWithShape="true">
              <a:gsLst>
                <a:gs pos="0">
                  <a:srgbClr val="162F56">
                    <a:alpha val="100000"/>
                  </a:srgbClr>
                </a:gs>
                <a:gs pos="100000">
                  <a:srgbClr val="18407D">
                    <a:alpha val="100000"/>
                  </a:srgbClr>
                </a:gs>
              </a:gsLst>
              <a:lin ang="0"/>
            </a:gradFill>
          </p:spPr>
        </p:sp>
        <p:sp>
          <p:nvSpPr>
            <p:cNvPr name="TextBox 30" id="30"/>
            <p:cNvSpPr txBox="true"/>
            <p:nvPr/>
          </p:nvSpPr>
          <p:spPr>
            <a:xfrm>
              <a:off x="114300" y="-38100"/>
              <a:ext cx="1825555" cy="736600"/>
            </a:xfrm>
            <a:prstGeom prst="rect">
              <a:avLst/>
            </a:prstGeom>
          </p:spPr>
          <p:txBody>
            <a:bodyPr anchor="ctr" rtlCol="false" tIns="50800" lIns="50800" bIns="50800" rIns="50800"/>
            <a:lstStyle/>
            <a:p>
              <a:pPr algn="ctr" marL="0" indent="0" lvl="0">
                <a:lnSpc>
                  <a:spcPts val="2659"/>
                </a:lnSpc>
              </a:pPr>
            </a:p>
          </p:txBody>
        </p:sp>
      </p:grpSp>
      <p:sp>
        <p:nvSpPr>
          <p:cNvPr name="Freeform 31" id="31"/>
          <p:cNvSpPr/>
          <p:nvPr/>
        </p:nvSpPr>
        <p:spPr>
          <a:xfrm flipH="false" flipV="false" rot="0">
            <a:off x="1211191" y="5248655"/>
            <a:ext cx="845826" cy="817508"/>
          </a:xfrm>
          <a:custGeom>
            <a:avLst/>
            <a:gdLst/>
            <a:ahLst/>
            <a:cxnLst/>
            <a:rect r="r" b="b" t="t" l="l"/>
            <a:pathLst>
              <a:path h="817508" w="845826">
                <a:moveTo>
                  <a:pt x="0" y="0"/>
                </a:moveTo>
                <a:lnTo>
                  <a:pt x="845826" y="0"/>
                </a:lnTo>
                <a:lnTo>
                  <a:pt x="845826" y="817508"/>
                </a:lnTo>
                <a:lnTo>
                  <a:pt x="0" y="817508"/>
                </a:lnTo>
                <a:lnTo>
                  <a:pt x="0" y="0"/>
                </a:lnTo>
                <a:close/>
              </a:path>
            </a:pathLst>
          </a:custGeom>
          <a:blipFill>
            <a:blip r:embed="rId5"/>
            <a:stretch>
              <a:fillRect l="0" t="0" r="0" b="0"/>
            </a:stretch>
          </a:blipFill>
        </p:spPr>
      </p:sp>
      <p:sp>
        <p:nvSpPr>
          <p:cNvPr name="Freeform 32" id="32"/>
          <p:cNvSpPr/>
          <p:nvPr/>
        </p:nvSpPr>
        <p:spPr>
          <a:xfrm flipH="false" flipV="false" rot="0">
            <a:off x="671445" y="7203043"/>
            <a:ext cx="1923413" cy="767249"/>
          </a:xfrm>
          <a:custGeom>
            <a:avLst/>
            <a:gdLst/>
            <a:ahLst/>
            <a:cxnLst/>
            <a:rect r="r" b="b" t="t" l="l"/>
            <a:pathLst>
              <a:path h="767249" w="1923413">
                <a:moveTo>
                  <a:pt x="0" y="0"/>
                </a:moveTo>
                <a:lnTo>
                  <a:pt x="1923413" y="0"/>
                </a:lnTo>
                <a:lnTo>
                  <a:pt x="1923413" y="767248"/>
                </a:lnTo>
                <a:lnTo>
                  <a:pt x="0" y="767248"/>
                </a:lnTo>
                <a:lnTo>
                  <a:pt x="0" y="0"/>
                </a:lnTo>
                <a:close/>
              </a:path>
            </a:pathLst>
          </a:custGeom>
          <a:blipFill>
            <a:blip r:embed="rId6"/>
            <a:stretch>
              <a:fillRect l="0" t="0" r="0" b="0"/>
            </a:stretch>
          </a:blipFill>
        </p:spPr>
      </p:sp>
      <p:sp>
        <p:nvSpPr>
          <p:cNvPr name="Freeform 33" id="33"/>
          <p:cNvSpPr/>
          <p:nvPr/>
        </p:nvSpPr>
        <p:spPr>
          <a:xfrm flipH="false" flipV="false" rot="0">
            <a:off x="5422206" y="6964936"/>
            <a:ext cx="1015834" cy="1295013"/>
          </a:xfrm>
          <a:custGeom>
            <a:avLst/>
            <a:gdLst/>
            <a:ahLst/>
            <a:cxnLst/>
            <a:rect r="r" b="b" t="t" l="l"/>
            <a:pathLst>
              <a:path h="1295013" w="1015834">
                <a:moveTo>
                  <a:pt x="0" y="0"/>
                </a:moveTo>
                <a:lnTo>
                  <a:pt x="1015835" y="0"/>
                </a:lnTo>
                <a:lnTo>
                  <a:pt x="1015835" y="1295013"/>
                </a:lnTo>
                <a:lnTo>
                  <a:pt x="0" y="1295013"/>
                </a:lnTo>
                <a:lnTo>
                  <a:pt x="0" y="0"/>
                </a:lnTo>
                <a:close/>
              </a:path>
            </a:pathLst>
          </a:custGeom>
          <a:blipFill>
            <a:blip r:embed="rId7"/>
            <a:stretch>
              <a:fillRect l="0" t="0" r="0" b="0"/>
            </a:stretch>
          </a:blipFill>
        </p:spPr>
      </p:sp>
      <p:sp>
        <p:nvSpPr>
          <p:cNvPr name="Freeform 34" id="34"/>
          <p:cNvSpPr/>
          <p:nvPr/>
        </p:nvSpPr>
        <p:spPr>
          <a:xfrm flipH="false" flipV="false" rot="0">
            <a:off x="5455418" y="5232716"/>
            <a:ext cx="1014988" cy="932520"/>
          </a:xfrm>
          <a:custGeom>
            <a:avLst/>
            <a:gdLst/>
            <a:ahLst/>
            <a:cxnLst/>
            <a:rect r="r" b="b" t="t" l="l"/>
            <a:pathLst>
              <a:path h="932520" w="1014988">
                <a:moveTo>
                  <a:pt x="0" y="0"/>
                </a:moveTo>
                <a:lnTo>
                  <a:pt x="1014988" y="0"/>
                </a:lnTo>
                <a:lnTo>
                  <a:pt x="1014988" y="932520"/>
                </a:lnTo>
                <a:lnTo>
                  <a:pt x="0" y="932520"/>
                </a:lnTo>
                <a:lnTo>
                  <a:pt x="0" y="0"/>
                </a:lnTo>
                <a:close/>
              </a:path>
            </a:pathLst>
          </a:custGeom>
          <a:blipFill>
            <a:blip r:embed="rId8"/>
            <a:stretch>
              <a:fillRect l="0" t="0" r="0" b="0"/>
            </a:stretch>
          </a:blipFill>
        </p:spPr>
      </p:sp>
      <p:sp>
        <p:nvSpPr>
          <p:cNvPr name="TextBox 35" id="35"/>
          <p:cNvSpPr txBox="true"/>
          <p:nvPr/>
        </p:nvSpPr>
        <p:spPr>
          <a:xfrm rot="0">
            <a:off x="2314895" y="5419772"/>
            <a:ext cx="2078037" cy="498508"/>
          </a:xfrm>
          <a:prstGeom prst="rect">
            <a:avLst/>
          </a:prstGeom>
        </p:spPr>
        <p:txBody>
          <a:bodyPr anchor="t" rtlCol="false" tIns="0" lIns="0" bIns="0" rIns="0">
            <a:spAutoFit/>
          </a:bodyPr>
          <a:lstStyle/>
          <a:p>
            <a:pPr algn="l" marL="0" indent="0" lvl="0">
              <a:lnSpc>
                <a:spcPts val="4023"/>
              </a:lnSpc>
              <a:spcBef>
                <a:spcPct val="0"/>
              </a:spcBef>
            </a:pPr>
            <a:r>
              <a:rPr lang="en-US" b="true" sz="2873">
                <a:solidFill>
                  <a:srgbClr val="FFFFFF"/>
                </a:solidFill>
                <a:latin typeface="Garet Bold"/>
                <a:ea typeface="Garet Bold"/>
                <a:cs typeface="Garet Bold"/>
                <a:sym typeface="Garet Bold"/>
              </a:rPr>
              <a:t>javaScript</a:t>
            </a:r>
          </a:p>
        </p:txBody>
      </p:sp>
      <p:sp>
        <p:nvSpPr>
          <p:cNvPr name="TextBox 36" id="36"/>
          <p:cNvSpPr txBox="true"/>
          <p:nvPr/>
        </p:nvSpPr>
        <p:spPr>
          <a:xfrm rot="0">
            <a:off x="2745626" y="7415473"/>
            <a:ext cx="2340724" cy="435924"/>
          </a:xfrm>
          <a:prstGeom prst="rect">
            <a:avLst/>
          </a:prstGeom>
        </p:spPr>
        <p:txBody>
          <a:bodyPr anchor="t" rtlCol="false" tIns="0" lIns="0" bIns="0" rIns="0">
            <a:spAutoFit/>
          </a:bodyPr>
          <a:lstStyle/>
          <a:p>
            <a:pPr algn="l" marL="0" indent="0" lvl="0">
              <a:lnSpc>
                <a:spcPts val="3390"/>
              </a:lnSpc>
            </a:pPr>
            <a:r>
              <a:rPr lang="en-US" b="true" sz="2873">
                <a:solidFill>
                  <a:srgbClr val="FFFFFF"/>
                </a:solidFill>
                <a:latin typeface="Garet Bold"/>
                <a:ea typeface="Garet Bold"/>
                <a:cs typeface="Garet Bold"/>
                <a:sym typeface="Garet Bold"/>
              </a:rPr>
              <a:t>Node js</a:t>
            </a:r>
          </a:p>
        </p:txBody>
      </p:sp>
      <p:sp>
        <p:nvSpPr>
          <p:cNvPr name="TextBox 37" id="37"/>
          <p:cNvSpPr txBox="true"/>
          <p:nvPr/>
        </p:nvSpPr>
        <p:spPr>
          <a:xfrm rot="0">
            <a:off x="6614100" y="5561430"/>
            <a:ext cx="2338895" cy="864549"/>
          </a:xfrm>
          <a:prstGeom prst="rect">
            <a:avLst/>
          </a:prstGeom>
        </p:spPr>
        <p:txBody>
          <a:bodyPr anchor="t" rtlCol="false" tIns="0" lIns="0" bIns="0" rIns="0">
            <a:spAutoFit/>
          </a:bodyPr>
          <a:lstStyle/>
          <a:p>
            <a:pPr algn="l">
              <a:lnSpc>
                <a:spcPts val="3390"/>
              </a:lnSpc>
            </a:pPr>
            <a:r>
              <a:rPr lang="en-US" sz="2873" b="true">
                <a:solidFill>
                  <a:srgbClr val="FFFFFF"/>
                </a:solidFill>
                <a:latin typeface="Garet Bold"/>
                <a:ea typeface="Garet Bold"/>
                <a:cs typeface="Garet Bold"/>
                <a:sym typeface="Garet Bold"/>
              </a:rPr>
              <a:t>PostgreSQL </a:t>
            </a:r>
          </a:p>
          <a:p>
            <a:pPr algn="l" marL="0" indent="0" lvl="0">
              <a:lnSpc>
                <a:spcPts val="3390"/>
              </a:lnSpc>
            </a:pPr>
          </a:p>
        </p:txBody>
      </p:sp>
      <p:sp>
        <p:nvSpPr>
          <p:cNvPr name="TextBox 38" id="38"/>
          <p:cNvSpPr txBox="true"/>
          <p:nvPr/>
        </p:nvSpPr>
        <p:spPr>
          <a:xfrm rot="0">
            <a:off x="6614100" y="7415473"/>
            <a:ext cx="1973739" cy="435924"/>
          </a:xfrm>
          <a:prstGeom prst="rect">
            <a:avLst/>
          </a:prstGeom>
        </p:spPr>
        <p:txBody>
          <a:bodyPr anchor="t" rtlCol="false" tIns="0" lIns="0" bIns="0" rIns="0">
            <a:spAutoFit/>
          </a:bodyPr>
          <a:lstStyle/>
          <a:p>
            <a:pPr algn="l" marL="0" indent="0" lvl="0">
              <a:lnSpc>
                <a:spcPts val="3390"/>
              </a:lnSpc>
            </a:pPr>
            <a:r>
              <a:rPr lang="en-US" b="true" sz="2873">
                <a:solidFill>
                  <a:srgbClr val="FFFFFF"/>
                </a:solidFill>
                <a:latin typeface="Garet Bold"/>
                <a:ea typeface="Garet Bold"/>
                <a:cs typeface="Garet Bold"/>
                <a:sym typeface="Garet Bold"/>
              </a:rPr>
              <a:t>Html, css</a:t>
            </a:r>
          </a:p>
        </p:txBody>
      </p:sp>
      <p:sp>
        <p:nvSpPr>
          <p:cNvPr name="Freeform 39" id="39"/>
          <p:cNvSpPr/>
          <p:nvPr/>
        </p:nvSpPr>
        <p:spPr>
          <a:xfrm flipH="false" flipV="false" rot="0">
            <a:off x="9144000" y="728435"/>
            <a:ext cx="446735" cy="335051"/>
          </a:xfrm>
          <a:custGeom>
            <a:avLst/>
            <a:gdLst/>
            <a:ahLst/>
            <a:cxnLst/>
            <a:rect r="r" b="b" t="t" l="l"/>
            <a:pathLst>
              <a:path h="335051" w="446735">
                <a:moveTo>
                  <a:pt x="0" y="0"/>
                </a:moveTo>
                <a:lnTo>
                  <a:pt x="446735" y="0"/>
                </a:lnTo>
                <a:lnTo>
                  <a:pt x="446735" y="335052"/>
                </a:lnTo>
                <a:lnTo>
                  <a:pt x="0" y="3350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0" id="40"/>
          <p:cNvSpPr/>
          <p:nvPr/>
        </p:nvSpPr>
        <p:spPr>
          <a:xfrm flipH="false" flipV="false" rot="0">
            <a:off x="1028700" y="8759099"/>
            <a:ext cx="446735" cy="335051"/>
          </a:xfrm>
          <a:custGeom>
            <a:avLst/>
            <a:gdLst/>
            <a:ahLst/>
            <a:cxnLst/>
            <a:rect r="r" b="b" t="t" l="l"/>
            <a:pathLst>
              <a:path h="335051" w="446735">
                <a:moveTo>
                  <a:pt x="0" y="0"/>
                </a:moveTo>
                <a:lnTo>
                  <a:pt x="446735" y="0"/>
                </a:lnTo>
                <a:lnTo>
                  <a:pt x="446735" y="335051"/>
                </a:lnTo>
                <a:lnTo>
                  <a:pt x="0" y="3350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FD5D5">
                <a:alpha val="100000"/>
              </a:srgbClr>
            </a:gs>
            <a:gs pos="100000">
              <a:srgbClr val="FFFFF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289532">
            <a:off x="4884079" y="3617809"/>
            <a:ext cx="15724022" cy="8379769"/>
          </a:xfrm>
          <a:custGeom>
            <a:avLst/>
            <a:gdLst/>
            <a:ahLst/>
            <a:cxnLst/>
            <a:rect r="r" b="b" t="t" l="l"/>
            <a:pathLst>
              <a:path h="8379769" w="15724022">
                <a:moveTo>
                  <a:pt x="0" y="0"/>
                </a:moveTo>
                <a:lnTo>
                  <a:pt x="15724022" y="0"/>
                </a:lnTo>
                <a:lnTo>
                  <a:pt x="15724022" y="8379769"/>
                </a:lnTo>
                <a:lnTo>
                  <a:pt x="0" y="83797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45188"/>
            </a:stretch>
          </a:blipFill>
        </p:spPr>
      </p:sp>
      <p:grpSp>
        <p:nvGrpSpPr>
          <p:cNvPr name="Group 3" id="3"/>
          <p:cNvGrpSpPr/>
          <p:nvPr/>
        </p:nvGrpSpPr>
        <p:grpSpPr>
          <a:xfrm rot="0">
            <a:off x="13716009" y="2961655"/>
            <a:ext cx="9275828" cy="8116350"/>
            <a:chOff x="0" y="0"/>
            <a:chExt cx="812800" cy="711200"/>
          </a:xfrm>
        </p:grpSpPr>
        <p:sp>
          <p:nvSpPr>
            <p:cNvPr name="Freeform 4" id="4"/>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5" id="5"/>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10800000">
            <a:off x="13520375" y="-1267700"/>
            <a:ext cx="9667097" cy="8458710"/>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5289580" y="9487920"/>
            <a:ext cx="9458659" cy="975659"/>
            <a:chOff x="0" y="0"/>
            <a:chExt cx="3885305" cy="400769"/>
          </a:xfrm>
        </p:grpSpPr>
        <p:sp>
          <p:nvSpPr>
            <p:cNvPr name="Freeform 10" id="10"/>
            <p:cNvSpPr/>
            <p:nvPr/>
          </p:nvSpPr>
          <p:spPr>
            <a:xfrm flipH="false" flipV="false" rot="0">
              <a:off x="0" y="0"/>
              <a:ext cx="3885305" cy="400769"/>
            </a:xfrm>
            <a:custGeom>
              <a:avLst/>
              <a:gdLst/>
              <a:ahLst/>
              <a:cxnLst/>
              <a:rect r="r" b="b" t="t" l="l"/>
              <a:pathLst>
                <a:path h="400769" w="3885305">
                  <a:moveTo>
                    <a:pt x="203200" y="0"/>
                  </a:moveTo>
                  <a:lnTo>
                    <a:pt x="3885305" y="0"/>
                  </a:lnTo>
                  <a:lnTo>
                    <a:pt x="3682105" y="400769"/>
                  </a:lnTo>
                  <a:lnTo>
                    <a:pt x="0" y="400769"/>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11" id="11"/>
            <p:cNvSpPr txBox="true"/>
            <p:nvPr/>
          </p:nvSpPr>
          <p:spPr>
            <a:xfrm>
              <a:off x="101600" y="-38100"/>
              <a:ext cx="3682105" cy="438869"/>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025509" y="9487920"/>
            <a:ext cx="7099698" cy="975659"/>
            <a:chOff x="0" y="0"/>
            <a:chExt cx="2916322" cy="400769"/>
          </a:xfrm>
        </p:grpSpPr>
        <p:sp>
          <p:nvSpPr>
            <p:cNvPr name="Freeform 13" id="13"/>
            <p:cNvSpPr/>
            <p:nvPr/>
          </p:nvSpPr>
          <p:spPr>
            <a:xfrm flipH="false" flipV="false" rot="0">
              <a:off x="0" y="0"/>
              <a:ext cx="2916322" cy="400769"/>
            </a:xfrm>
            <a:custGeom>
              <a:avLst/>
              <a:gdLst/>
              <a:ahLst/>
              <a:cxnLst/>
              <a:rect r="r" b="b" t="t" l="l"/>
              <a:pathLst>
                <a:path h="400769" w="2916322">
                  <a:moveTo>
                    <a:pt x="203200" y="0"/>
                  </a:moveTo>
                  <a:lnTo>
                    <a:pt x="2916322" y="0"/>
                  </a:lnTo>
                  <a:lnTo>
                    <a:pt x="2713122" y="400769"/>
                  </a:lnTo>
                  <a:lnTo>
                    <a:pt x="0" y="400769"/>
                  </a:lnTo>
                  <a:lnTo>
                    <a:pt x="203200" y="0"/>
                  </a:lnTo>
                  <a:close/>
                </a:path>
              </a:pathLst>
            </a:custGeom>
            <a:gradFill rotWithShape="true">
              <a:gsLst>
                <a:gs pos="0">
                  <a:srgbClr val="162F56">
                    <a:alpha val="100000"/>
                  </a:srgbClr>
                </a:gs>
                <a:gs pos="100000">
                  <a:srgbClr val="18407D">
                    <a:alpha val="100000"/>
                  </a:srgbClr>
                </a:gs>
              </a:gsLst>
              <a:lin ang="0"/>
            </a:gradFill>
          </p:spPr>
        </p:sp>
        <p:sp>
          <p:nvSpPr>
            <p:cNvPr name="TextBox 14" id="14"/>
            <p:cNvSpPr txBox="true"/>
            <p:nvPr/>
          </p:nvSpPr>
          <p:spPr>
            <a:xfrm>
              <a:off x="101600" y="-38100"/>
              <a:ext cx="2713122" cy="438869"/>
            </a:xfrm>
            <a:prstGeom prst="rect">
              <a:avLst/>
            </a:prstGeom>
          </p:spPr>
          <p:txBody>
            <a:bodyPr anchor="ctr" rtlCol="false" tIns="50800" lIns="50800" bIns="50800" rIns="50800"/>
            <a:lstStyle/>
            <a:p>
              <a:pPr algn="ctr" marL="0" indent="0" lvl="0">
                <a:lnSpc>
                  <a:spcPts val="2659"/>
                </a:lnSpc>
              </a:pPr>
            </a:p>
          </p:txBody>
        </p:sp>
      </p:grpSp>
      <p:sp>
        <p:nvSpPr>
          <p:cNvPr name="Freeform 15" id="15"/>
          <p:cNvSpPr/>
          <p:nvPr/>
        </p:nvSpPr>
        <p:spPr>
          <a:xfrm flipH="false" flipV="false" rot="0">
            <a:off x="11413458" y="1295491"/>
            <a:ext cx="446735" cy="335051"/>
          </a:xfrm>
          <a:custGeom>
            <a:avLst/>
            <a:gdLst/>
            <a:ahLst/>
            <a:cxnLst/>
            <a:rect r="r" b="b" t="t" l="l"/>
            <a:pathLst>
              <a:path h="335051" w="446735">
                <a:moveTo>
                  <a:pt x="0" y="0"/>
                </a:moveTo>
                <a:lnTo>
                  <a:pt x="446735" y="0"/>
                </a:lnTo>
                <a:lnTo>
                  <a:pt x="446735" y="335051"/>
                </a:lnTo>
                <a:lnTo>
                  <a:pt x="0" y="3350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350026" y="1424916"/>
            <a:ext cx="5124444" cy="6999393"/>
          </a:xfrm>
          <a:custGeom>
            <a:avLst/>
            <a:gdLst/>
            <a:ahLst/>
            <a:cxnLst/>
            <a:rect r="r" b="b" t="t" l="l"/>
            <a:pathLst>
              <a:path h="6999393" w="5124444">
                <a:moveTo>
                  <a:pt x="0" y="0"/>
                </a:moveTo>
                <a:lnTo>
                  <a:pt x="5124445" y="0"/>
                </a:lnTo>
                <a:lnTo>
                  <a:pt x="5124445" y="6999393"/>
                </a:lnTo>
                <a:lnTo>
                  <a:pt x="0" y="6999393"/>
                </a:lnTo>
                <a:lnTo>
                  <a:pt x="0" y="0"/>
                </a:lnTo>
                <a:close/>
              </a:path>
            </a:pathLst>
          </a:custGeom>
          <a:blipFill>
            <a:blip r:embed="rId6"/>
            <a:stretch>
              <a:fillRect l="0" t="0" r="-1944" b="0"/>
            </a:stretch>
          </a:blipFill>
        </p:spPr>
      </p:sp>
      <p:sp>
        <p:nvSpPr>
          <p:cNvPr name="Freeform 17" id="17"/>
          <p:cNvSpPr/>
          <p:nvPr/>
        </p:nvSpPr>
        <p:spPr>
          <a:xfrm flipH="false" flipV="false" rot="0">
            <a:off x="5616646" y="1836010"/>
            <a:ext cx="10781920" cy="6614981"/>
          </a:xfrm>
          <a:custGeom>
            <a:avLst/>
            <a:gdLst/>
            <a:ahLst/>
            <a:cxnLst/>
            <a:rect r="r" b="b" t="t" l="l"/>
            <a:pathLst>
              <a:path h="6614981" w="10781920">
                <a:moveTo>
                  <a:pt x="0" y="0"/>
                </a:moveTo>
                <a:lnTo>
                  <a:pt x="10781919" y="0"/>
                </a:lnTo>
                <a:lnTo>
                  <a:pt x="10781919" y="6614980"/>
                </a:lnTo>
                <a:lnTo>
                  <a:pt x="0" y="6614980"/>
                </a:lnTo>
                <a:lnTo>
                  <a:pt x="0" y="0"/>
                </a:lnTo>
                <a:close/>
              </a:path>
            </a:pathLst>
          </a:custGeom>
          <a:blipFill>
            <a:blip r:embed="rId7"/>
            <a:stretch>
              <a:fillRect l="0" t="-1426" r="0" b="-1426"/>
            </a:stretch>
          </a:blipFill>
        </p:spPr>
      </p:sp>
      <p:sp>
        <p:nvSpPr>
          <p:cNvPr name="TextBox 18" id="18"/>
          <p:cNvSpPr txBox="true"/>
          <p:nvPr/>
        </p:nvSpPr>
        <p:spPr>
          <a:xfrm rot="0">
            <a:off x="464326" y="229328"/>
            <a:ext cx="12487221" cy="1608997"/>
          </a:xfrm>
          <a:prstGeom prst="rect">
            <a:avLst/>
          </a:prstGeom>
        </p:spPr>
        <p:txBody>
          <a:bodyPr anchor="t" rtlCol="false" tIns="0" lIns="0" bIns="0" rIns="0">
            <a:spAutoFit/>
          </a:bodyPr>
          <a:lstStyle/>
          <a:p>
            <a:pPr algn="l" marL="0" indent="0" lvl="0">
              <a:lnSpc>
                <a:spcPts val="6385"/>
              </a:lnSpc>
            </a:pPr>
            <a:r>
              <a:rPr lang="en-US" b="true" sz="5191" spc="-264">
                <a:solidFill>
                  <a:srgbClr val="102C57"/>
                </a:solidFill>
                <a:latin typeface="Garet Bold"/>
                <a:ea typeface="Garet Bold"/>
                <a:cs typeface="Garet Bold"/>
                <a:sym typeface="Garet Bold"/>
              </a:rPr>
              <a:t>Software </a:t>
            </a:r>
            <a:r>
              <a:rPr lang="en-US" b="true" sz="5191" spc="-264">
                <a:solidFill>
                  <a:srgbClr val="102C57"/>
                </a:solidFill>
                <a:latin typeface="Garet Bold"/>
                <a:ea typeface="Garet Bold"/>
                <a:cs typeface="Garet Bold"/>
                <a:sym typeface="Garet Bold"/>
              </a:rPr>
              <a:t>Cost Estimation</a:t>
            </a:r>
          </a:p>
          <a:p>
            <a:pPr algn="l" marL="0" indent="0" lvl="0">
              <a:lnSpc>
                <a:spcPts val="6385"/>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FD5D5">
                <a:alpha val="100000"/>
              </a:srgbClr>
            </a:gs>
            <a:gs pos="100000">
              <a:srgbClr val="FFFFF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289532">
            <a:off x="4884079" y="3617809"/>
            <a:ext cx="15724022" cy="8379769"/>
          </a:xfrm>
          <a:custGeom>
            <a:avLst/>
            <a:gdLst/>
            <a:ahLst/>
            <a:cxnLst/>
            <a:rect r="r" b="b" t="t" l="l"/>
            <a:pathLst>
              <a:path h="8379769" w="15724022">
                <a:moveTo>
                  <a:pt x="0" y="0"/>
                </a:moveTo>
                <a:lnTo>
                  <a:pt x="15724022" y="0"/>
                </a:lnTo>
                <a:lnTo>
                  <a:pt x="15724022" y="8379769"/>
                </a:lnTo>
                <a:lnTo>
                  <a:pt x="0" y="83797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45188"/>
            </a:stretch>
          </a:blipFill>
        </p:spPr>
      </p:sp>
      <p:grpSp>
        <p:nvGrpSpPr>
          <p:cNvPr name="Group 3" id="3"/>
          <p:cNvGrpSpPr/>
          <p:nvPr/>
        </p:nvGrpSpPr>
        <p:grpSpPr>
          <a:xfrm rot="0">
            <a:off x="13716009" y="2961655"/>
            <a:ext cx="9275828" cy="8116350"/>
            <a:chOff x="0" y="0"/>
            <a:chExt cx="812800" cy="711200"/>
          </a:xfrm>
        </p:grpSpPr>
        <p:sp>
          <p:nvSpPr>
            <p:cNvPr name="Freeform 4" id="4"/>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5" id="5"/>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10800000">
            <a:off x="13520375" y="-1267700"/>
            <a:ext cx="9667097" cy="8458710"/>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5289580" y="9487920"/>
            <a:ext cx="9458659" cy="975659"/>
            <a:chOff x="0" y="0"/>
            <a:chExt cx="3885305" cy="400769"/>
          </a:xfrm>
        </p:grpSpPr>
        <p:sp>
          <p:nvSpPr>
            <p:cNvPr name="Freeform 10" id="10"/>
            <p:cNvSpPr/>
            <p:nvPr/>
          </p:nvSpPr>
          <p:spPr>
            <a:xfrm flipH="false" flipV="false" rot="0">
              <a:off x="0" y="0"/>
              <a:ext cx="3885305" cy="400769"/>
            </a:xfrm>
            <a:custGeom>
              <a:avLst/>
              <a:gdLst/>
              <a:ahLst/>
              <a:cxnLst/>
              <a:rect r="r" b="b" t="t" l="l"/>
              <a:pathLst>
                <a:path h="400769" w="3885305">
                  <a:moveTo>
                    <a:pt x="203200" y="0"/>
                  </a:moveTo>
                  <a:lnTo>
                    <a:pt x="3885305" y="0"/>
                  </a:lnTo>
                  <a:lnTo>
                    <a:pt x="3682105" y="400769"/>
                  </a:lnTo>
                  <a:lnTo>
                    <a:pt x="0" y="400769"/>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11" id="11"/>
            <p:cNvSpPr txBox="true"/>
            <p:nvPr/>
          </p:nvSpPr>
          <p:spPr>
            <a:xfrm>
              <a:off x="101600" y="-38100"/>
              <a:ext cx="3682105" cy="438869"/>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025509" y="9487920"/>
            <a:ext cx="7099698" cy="975659"/>
            <a:chOff x="0" y="0"/>
            <a:chExt cx="2916322" cy="400769"/>
          </a:xfrm>
        </p:grpSpPr>
        <p:sp>
          <p:nvSpPr>
            <p:cNvPr name="Freeform 13" id="13"/>
            <p:cNvSpPr/>
            <p:nvPr/>
          </p:nvSpPr>
          <p:spPr>
            <a:xfrm flipH="false" flipV="false" rot="0">
              <a:off x="0" y="0"/>
              <a:ext cx="2916322" cy="400769"/>
            </a:xfrm>
            <a:custGeom>
              <a:avLst/>
              <a:gdLst/>
              <a:ahLst/>
              <a:cxnLst/>
              <a:rect r="r" b="b" t="t" l="l"/>
              <a:pathLst>
                <a:path h="400769" w="2916322">
                  <a:moveTo>
                    <a:pt x="203200" y="0"/>
                  </a:moveTo>
                  <a:lnTo>
                    <a:pt x="2916322" y="0"/>
                  </a:lnTo>
                  <a:lnTo>
                    <a:pt x="2713122" y="400769"/>
                  </a:lnTo>
                  <a:lnTo>
                    <a:pt x="0" y="400769"/>
                  </a:lnTo>
                  <a:lnTo>
                    <a:pt x="203200" y="0"/>
                  </a:lnTo>
                  <a:close/>
                </a:path>
              </a:pathLst>
            </a:custGeom>
            <a:gradFill rotWithShape="true">
              <a:gsLst>
                <a:gs pos="0">
                  <a:srgbClr val="162F56">
                    <a:alpha val="100000"/>
                  </a:srgbClr>
                </a:gs>
                <a:gs pos="100000">
                  <a:srgbClr val="18407D">
                    <a:alpha val="100000"/>
                  </a:srgbClr>
                </a:gs>
              </a:gsLst>
              <a:lin ang="0"/>
            </a:gradFill>
          </p:spPr>
        </p:sp>
        <p:sp>
          <p:nvSpPr>
            <p:cNvPr name="TextBox 14" id="14"/>
            <p:cNvSpPr txBox="true"/>
            <p:nvPr/>
          </p:nvSpPr>
          <p:spPr>
            <a:xfrm>
              <a:off x="101600" y="-38100"/>
              <a:ext cx="2713122" cy="438869"/>
            </a:xfrm>
            <a:prstGeom prst="rect">
              <a:avLst/>
            </a:prstGeom>
          </p:spPr>
          <p:txBody>
            <a:bodyPr anchor="ctr" rtlCol="false" tIns="50800" lIns="50800" bIns="50800" rIns="50800"/>
            <a:lstStyle/>
            <a:p>
              <a:pPr algn="ctr" marL="0" indent="0" lvl="0">
                <a:lnSpc>
                  <a:spcPts val="2659"/>
                </a:lnSpc>
              </a:pPr>
            </a:p>
          </p:txBody>
        </p:sp>
      </p:grpSp>
      <p:sp>
        <p:nvSpPr>
          <p:cNvPr name="Freeform 15" id="15"/>
          <p:cNvSpPr/>
          <p:nvPr/>
        </p:nvSpPr>
        <p:spPr>
          <a:xfrm flipH="false" flipV="false" rot="0">
            <a:off x="11413458" y="1295491"/>
            <a:ext cx="446735" cy="335051"/>
          </a:xfrm>
          <a:custGeom>
            <a:avLst/>
            <a:gdLst/>
            <a:ahLst/>
            <a:cxnLst/>
            <a:rect r="r" b="b" t="t" l="l"/>
            <a:pathLst>
              <a:path h="335051" w="446735">
                <a:moveTo>
                  <a:pt x="0" y="0"/>
                </a:moveTo>
                <a:lnTo>
                  <a:pt x="446735" y="0"/>
                </a:lnTo>
                <a:lnTo>
                  <a:pt x="446735" y="335051"/>
                </a:lnTo>
                <a:lnTo>
                  <a:pt x="0" y="3350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676400" y="1463016"/>
            <a:ext cx="6132268" cy="7174856"/>
          </a:xfrm>
          <a:custGeom>
            <a:avLst/>
            <a:gdLst/>
            <a:ahLst/>
            <a:cxnLst/>
            <a:rect r="r" b="b" t="t" l="l"/>
            <a:pathLst>
              <a:path h="7174856" w="6132268">
                <a:moveTo>
                  <a:pt x="0" y="0"/>
                </a:moveTo>
                <a:lnTo>
                  <a:pt x="6132268" y="0"/>
                </a:lnTo>
                <a:lnTo>
                  <a:pt x="6132268" y="7174856"/>
                </a:lnTo>
                <a:lnTo>
                  <a:pt x="0" y="7174856"/>
                </a:lnTo>
                <a:lnTo>
                  <a:pt x="0" y="0"/>
                </a:lnTo>
                <a:close/>
              </a:path>
            </a:pathLst>
          </a:custGeom>
          <a:blipFill>
            <a:blip r:embed="rId6"/>
            <a:stretch>
              <a:fillRect l="0" t="0" r="0" b="0"/>
            </a:stretch>
          </a:blipFill>
        </p:spPr>
      </p:sp>
      <p:sp>
        <p:nvSpPr>
          <p:cNvPr name="Freeform 17" id="17"/>
          <p:cNvSpPr/>
          <p:nvPr/>
        </p:nvSpPr>
        <p:spPr>
          <a:xfrm flipH="false" flipV="false" rot="0">
            <a:off x="6808668" y="2868352"/>
            <a:ext cx="8834638" cy="4364184"/>
          </a:xfrm>
          <a:custGeom>
            <a:avLst/>
            <a:gdLst/>
            <a:ahLst/>
            <a:cxnLst/>
            <a:rect r="r" b="b" t="t" l="l"/>
            <a:pathLst>
              <a:path h="4364184" w="8834638">
                <a:moveTo>
                  <a:pt x="0" y="0"/>
                </a:moveTo>
                <a:lnTo>
                  <a:pt x="8834638" y="0"/>
                </a:lnTo>
                <a:lnTo>
                  <a:pt x="8834638" y="4364184"/>
                </a:lnTo>
                <a:lnTo>
                  <a:pt x="0" y="4364184"/>
                </a:lnTo>
                <a:lnTo>
                  <a:pt x="0" y="0"/>
                </a:lnTo>
                <a:close/>
              </a:path>
            </a:pathLst>
          </a:custGeom>
          <a:blipFill>
            <a:blip r:embed="rId7"/>
            <a:stretch>
              <a:fillRect l="0" t="0" r="0" b="0"/>
            </a:stretch>
          </a:blipFill>
        </p:spPr>
      </p:sp>
      <p:sp>
        <p:nvSpPr>
          <p:cNvPr name="TextBox 18" id="18"/>
          <p:cNvSpPr txBox="true"/>
          <p:nvPr/>
        </p:nvSpPr>
        <p:spPr>
          <a:xfrm rot="0">
            <a:off x="464326" y="229328"/>
            <a:ext cx="13922297" cy="1608997"/>
          </a:xfrm>
          <a:prstGeom prst="rect">
            <a:avLst/>
          </a:prstGeom>
        </p:spPr>
        <p:txBody>
          <a:bodyPr anchor="t" rtlCol="false" tIns="0" lIns="0" bIns="0" rIns="0">
            <a:spAutoFit/>
          </a:bodyPr>
          <a:lstStyle/>
          <a:p>
            <a:pPr algn="l" marL="0" indent="0" lvl="0">
              <a:lnSpc>
                <a:spcPts val="6385"/>
              </a:lnSpc>
            </a:pPr>
            <a:r>
              <a:rPr lang="en-US" b="true" sz="5191" spc="-264">
                <a:solidFill>
                  <a:srgbClr val="102C57"/>
                </a:solidFill>
                <a:latin typeface="Garet Bold"/>
                <a:ea typeface="Garet Bold"/>
                <a:cs typeface="Garet Bold"/>
                <a:sym typeface="Garet Bold"/>
              </a:rPr>
              <a:t>COCOMO </a:t>
            </a:r>
            <a:r>
              <a:rPr lang="en-US" b="true" sz="5191" spc="-264">
                <a:solidFill>
                  <a:srgbClr val="102C57"/>
                </a:solidFill>
                <a:latin typeface="Garet Bold"/>
                <a:ea typeface="Garet Bold"/>
                <a:cs typeface="Garet Bold"/>
                <a:sym typeface="Garet Bold"/>
              </a:rPr>
              <a:t>Basic M</a:t>
            </a:r>
            <a:r>
              <a:rPr lang="en-US" b="true" sz="5191" spc="-264">
                <a:solidFill>
                  <a:srgbClr val="102C57"/>
                </a:solidFill>
                <a:latin typeface="Garet Bold"/>
                <a:ea typeface="Garet Bold"/>
                <a:cs typeface="Garet Bold"/>
                <a:sym typeface="Garet Bold"/>
              </a:rPr>
              <a:t>odel &amp; F</a:t>
            </a:r>
            <a:r>
              <a:rPr lang="en-US" b="true" sz="5191" spc="-264">
                <a:solidFill>
                  <a:srgbClr val="102C57"/>
                </a:solidFill>
                <a:latin typeface="Garet Bold"/>
                <a:ea typeface="Garet Bold"/>
                <a:cs typeface="Garet Bold"/>
                <a:sym typeface="Garet Bold"/>
              </a:rPr>
              <a:t>ormulas</a:t>
            </a:r>
          </a:p>
          <a:p>
            <a:pPr algn="l" marL="0" indent="0" lvl="0">
              <a:lnSpc>
                <a:spcPts val="6385"/>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FD5D5">
                <a:alpha val="100000"/>
              </a:srgbClr>
            </a:gs>
            <a:gs pos="100000">
              <a:srgbClr val="FFFFF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25461"/>
          </a:xfrm>
          <a:custGeom>
            <a:avLst/>
            <a:gdLst/>
            <a:ahLst/>
            <a:cxnLst/>
            <a:rect r="r" b="b" t="t" l="l"/>
            <a:pathLst>
              <a:path h="10225461" w="18288000">
                <a:moveTo>
                  <a:pt x="0" y="0"/>
                </a:moveTo>
                <a:lnTo>
                  <a:pt x="18288000" y="0"/>
                </a:lnTo>
                <a:lnTo>
                  <a:pt x="18288000" y="10225461"/>
                </a:lnTo>
                <a:lnTo>
                  <a:pt x="0" y="10225461"/>
                </a:lnTo>
                <a:lnTo>
                  <a:pt x="0" y="0"/>
                </a:lnTo>
                <a:close/>
              </a:path>
            </a:pathLst>
          </a:custGeom>
          <a:blipFill>
            <a:blip r:embed="rId2"/>
            <a:stretch>
              <a:fillRect l="0" t="-395" r="-2815" b="-3038"/>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FD5D5">
                <a:alpha val="100000"/>
              </a:srgbClr>
            </a:gs>
            <a:gs pos="100000">
              <a:srgbClr val="FFFFF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8823440"/>
          </a:xfrm>
          <a:custGeom>
            <a:avLst/>
            <a:gdLst/>
            <a:ahLst/>
            <a:cxnLst/>
            <a:rect r="r" b="b" t="t" l="l"/>
            <a:pathLst>
              <a:path h="8823440" w="18288000">
                <a:moveTo>
                  <a:pt x="0" y="0"/>
                </a:moveTo>
                <a:lnTo>
                  <a:pt x="18288000" y="0"/>
                </a:lnTo>
                <a:lnTo>
                  <a:pt x="18288000" y="8823440"/>
                </a:lnTo>
                <a:lnTo>
                  <a:pt x="0" y="8823440"/>
                </a:lnTo>
                <a:lnTo>
                  <a:pt x="0" y="0"/>
                </a:lnTo>
                <a:close/>
              </a:path>
            </a:pathLst>
          </a:custGeom>
          <a:blipFill>
            <a:blip r:embed="rId2"/>
            <a:stretch>
              <a:fillRect l="0" t="-7240" r="0" b="-9346"/>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FD5D5">
                <a:alpha val="100000"/>
              </a:srgbClr>
            </a:gs>
            <a:gs pos="100000">
              <a:srgbClr val="FFFFF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289532">
            <a:off x="4884079" y="3617809"/>
            <a:ext cx="15724022" cy="8379769"/>
          </a:xfrm>
          <a:custGeom>
            <a:avLst/>
            <a:gdLst/>
            <a:ahLst/>
            <a:cxnLst/>
            <a:rect r="r" b="b" t="t" l="l"/>
            <a:pathLst>
              <a:path h="8379769" w="15724022">
                <a:moveTo>
                  <a:pt x="0" y="0"/>
                </a:moveTo>
                <a:lnTo>
                  <a:pt x="15724022" y="0"/>
                </a:lnTo>
                <a:lnTo>
                  <a:pt x="15724022" y="8379769"/>
                </a:lnTo>
                <a:lnTo>
                  <a:pt x="0" y="83797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45188"/>
            </a:stretch>
          </a:blipFill>
        </p:spPr>
      </p:sp>
      <p:grpSp>
        <p:nvGrpSpPr>
          <p:cNvPr name="Group 3" id="3"/>
          <p:cNvGrpSpPr/>
          <p:nvPr/>
        </p:nvGrpSpPr>
        <p:grpSpPr>
          <a:xfrm rot="0">
            <a:off x="13707413" y="3132835"/>
            <a:ext cx="9275828" cy="8116350"/>
            <a:chOff x="0" y="0"/>
            <a:chExt cx="812800" cy="711200"/>
          </a:xfrm>
        </p:grpSpPr>
        <p:sp>
          <p:nvSpPr>
            <p:cNvPr name="Freeform 4" id="4"/>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5" id="5"/>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10800000">
            <a:off x="13520375" y="-1267700"/>
            <a:ext cx="9667097" cy="8458710"/>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sp>
        <p:nvSpPr>
          <p:cNvPr name="Freeform 9" id="9"/>
          <p:cNvSpPr/>
          <p:nvPr/>
        </p:nvSpPr>
        <p:spPr>
          <a:xfrm flipH="false" flipV="false" rot="0">
            <a:off x="9144000" y="954780"/>
            <a:ext cx="9426093" cy="8377440"/>
          </a:xfrm>
          <a:custGeom>
            <a:avLst/>
            <a:gdLst/>
            <a:ahLst/>
            <a:cxnLst/>
            <a:rect r="r" b="b" t="t" l="l"/>
            <a:pathLst>
              <a:path h="8377440" w="9426093">
                <a:moveTo>
                  <a:pt x="0" y="0"/>
                </a:moveTo>
                <a:lnTo>
                  <a:pt x="9426093" y="0"/>
                </a:lnTo>
                <a:lnTo>
                  <a:pt x="9426093" y="8377440"/>
                </a:lnTo>
                <a:lnTo>
                  <a:pt x="0" y="83774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9942477" y="1779417"/>
            <a:ext cx="7829140" cy="6728167"/>
            <a:chOff x="0" y="0"/>
            <a:chExt cx="812800" cy="698500"/>
          </a:xfrm>
        </p:grpSpPr>
        <p:sp>
          <p:nvSpPr>
            <p:cNvPr name="Freeform 11" id="1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FFFFFF">
                    <a:alpha val="100000"/>
                  </a:srgbClr>
                </a:gs>
                <a:gs pos="100000">
                  <a:srgbClr val="DFD5D5">
                    <a:alpha val="100000"/>
                  </a:srgbClr>
                </a:gs>
              </a:gsLst>
              <a:lin ang="2700000"/>
            </a:gradFill>
          </p:spPr>
        </p:sp>
        <p:sp>
          <p:nvSpPr>
            <p:cNvPr name="TextBox 12" id="12"/>
            <p:cNvSpPr txBox="true"/>
            <p:nvPr/>
          </p:nvSpPr>
          <p:spPr>
            <a:xfrm>
              <a:off x="114300" y="-38100"/>
              <a:ext cx="584200" cy="7366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10490686" y="2228384"/>
            <a:ext cx="6732720" cy="5830232"/>
            <a:chOff x="0" y="0"/>
            <a:chExt cx="4282440" cy="3708400"/>
          </a:xfrm>
        </p:grpSpPr>
        <p:sp>
          <p:nvSpPr>
            <p:cNvPr name="Freeform 14" id="14"/>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6"/>
              <a:stretch>
                <a:fillRect l="-3536" t="0" r="-3536" b="0"/>
              </a:stretch>
            </a:blipFill>
          </p:spPr>
        </p:sp>
      </p:grpSp>
      <p:grpSp>
        <p:nvGrpSpPr>
          <p:cNvPr name="Group 15" id="15"/>
          <p:cNvGrpSpPr/>
          <p:nvPr/>
        </p:nvGrpSpPr>
        <p:grpSpPr>
          <a:xfrm rot="0">
            <a:off x="5289580" y="9487920"/>
            <a:ext cx="9458659" cy="975659"/>
            <a:chOff x="0" y="0"/>
            <a:chExt cx="3885305" cy="400769"/>
          </a:xfrm>
        </p:grpSpPr>
        <p:sp>
          <p:nvSpPr>
            <p:cNvPr name="Freeform 16" id="16"/>
            <p:cNvSpPr/>
            <p:nvPr/>
          </p:nvSpPr>
          <p:spPr>
            <a:xfrm flipH="false" flipV="false" rot="0">
              <a:off x="0" y="0"/>
              <a:ext cx="3885305" cy="400769"/>
            </a:xfrm>
            <a:custGeom>
              <a:avLst/>
              <a:gdLst/>
              <a:ahLst/>
              <a:cxnLst/>
              <a:rect r="r" b="b" t="t" l="l"/>
              <a:pathLst>
                <a:path h="400769" w="3885305">
                  <a:moveTo>
                    <a:pt x="203200" y="0"/>
                  </a:moveTo>
                  <a:lnTo>
                    <a:pt x="3885305" y="0"/>
                  </a:lnTo>
                  <a:lnTo>
                    <a:pt x="3682105" y="400769"/>
                  </a:lnTo>
                  <a:lnTo>
                    <a:pt x="0" y="400769"/>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17" id="17"/>
            <p:cNvSpPr txBox="true"/>
            <p:nvPr/>
          </p:nvSpPr>
          <p:spPr>
            <a:xfrm>
              <a:off x="101600" y="-38100"/>
              <a:ext cx="3682105" cy="438869"/>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025509" y="9487920"/>
            <a:ext cx="7099698" cy="975659"/>
            <a:chOff x="0" y="0"/>
            <a:chExt cx="2916322" cy="400769"/>
          </a:xfrm>
        </p:grpSpPr>
        <p:sp>
          <p:nvSpPr>
            <p:cNvPr name="Freeform 19" id="19"/>
            <p:cNvSpPr/>
            <p:nvPr/>
          </p:nvSpPr>
          <p:spPr>
            <a:xfrm flipH="false" flipV="false" rot="0">
              <a:off x="0" y="0"/>
              <a:ext cx="2916322" cy="400769"/>
            </a:xfrm>
            <a:custGeom>
              <a:avLst/>
              <a:gdLst/>
              <a:ahLst/>
              <a:cxnLst/>
              <a:rect r="r" b="b" t="t" l="l"/>
              <a:pathLst>
                <a:path h="400769" w="2916322">
                  <a:moveTo>
                    <a:pt x="203200" y="0"/>
                  </a:moveTo>
                  <a:lnTo>
                    <a:pt x="2916322" y="0"/>
                  </a:lnTo>
                  <a:lnTo>
                    <a:pt x="2713122" y="400769"/>
                  </a:lnTo>
                  <a:lnTo>
                    <a:pt x="0" y="400769"/>
                  </a:lnTo>
                  <a:lnTo>
                    <a:pt x="203200" y="0"/>
                  </a:lnTo>
                  <a:close/>
                </a:path>
              </a:pathLst>
            </a:custGeom>
            <a:gradFill rotWithShape="true">
              <a:gsLst>
                <a:gs pos="0">
                  <a:srgbClr val="162F56">
                    <a:alpha val="100000"/>
                  </a:srgbClr>
                </a:gs>
                <a:gs pos="100000">
                  <a:srgbClr val="18407D">
                    <a:alpha val="100000"/>
                  </a:srgbClr>
                </a:gs>
              </a:gsLst>
              <a:lin ang="0"/>
            </a:gradFill>
          </p:spPr>
        </p:sp>
        <p:sp>
          <p:nvSpPr>
            <p:cNvPr name="TextBox 20" id="20"/>
            <p:cNvSpPr txBox="true"/>
            <p:nvPr/>
          </p:nvSpPr>
          <p:spPr>
            <a:xfrm>
              <a:off x="101600" y="-38100"/>
              <a:ext cx="2713122" cy="438869"/>
            </a:xfrm>
            <a:prstGeom prst="rect">
              <a:avLst/>
            </a:prstGeom>
          </p:spPr>
          <p:txBody>
            <a:bodyPr anchor="ctr" rtlCol="false" tIns="50800" lIns="50800" bIns="50800" rIns="50800"/>
            <a:lstStyle/>
            <a:p>
              <a:pPr algn="ctr" marL="0" indent="0" lvl="0">
                <a:lnSpc>
                  <a:spcPts val="2659"/>
                </a:lnSpc>
              </a:pPr>
            </a:p>
          </p:txBody>
        </p:sp>
      </p:grpSp>
      <p:sp>
        <p:nvSpPr>
          <p:cNvPr name="Freeform 21" id="21"/>
          <p:cNvSpPr/>
          <p:nvPr/>
        </p:nvSpPr>
        <p:spPr>
          <a:xfrm flipH="false" flipV="false" rot="0">
            <a:off x="9719109" y="1295491"/>
            <a:ext cx="446735" cy="335051"/>
          </a:xfrm>
          <a:custGeom>
            <a:avLst/>
            <a:gdLst/>
            <a:ahLst/>
            <a:cxnLst/>
            <a:rect r="r" b="b" t="t" l="l"/>
            <a:pathLst>
              <a:path h="335051" w="446735">
                <a:moveTo>
                  <a:pt x="0" y="0"/>
                </a:moveTo>
                <a:lnTo>
                  <a:pt x="446735" y="0"/>
                </a:lnTo>
                <a:lnTo>
                  <a:pt x="446735" y="335051"/>
                </a:lnTo>
                <a:lnTo>
                  <a:pt x="0" y="3350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8438101" y="7640168"/>
            <a:ext cx="446735" cy="335051"/>
          </a:xfrm>
          <a:custGeom>
            <a:avLst/>
            <a:gdLst/>
            <a:ahLst/>
            <a:cxnLst/>
            <a:rect r="r" b="b" t="t" l="l"/>
            <a:pathLst>
              <a:path h="335051" w="446735">
                <a:moveTo>
                  <a:pt x="0" y="0"/>
                </a:moveTo>
                <a:lnTo>
                  <a:pt x="446735" y="0"/>
                </a:lnTo>
                <a:lnTo>
                  <a:pt x="446735" y="335051"/>
                </a:lnTo>
                <a:lnTo>
                  <a:pt x="0" y="3350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3" id="23"/>
          <p:cNvSpPr txBox="true"/>
          <p:nvPr/>
        </p:nvSpPr>
        <p:spPr>
          <a:xfrm rot="0">
            <a:off x="1028700" y="1984392"/>
            <a:ext cx="9137144" cy="1700874"/>
          </a:xfrm>
          <a:prstGeom prst="rect">
            <a:avLst/>
          </a:prstGeom>
        </p:spPr>
        <p:txBody>
          <a:bodyPr anchor="t" rtlCol="false" tIns="0" lIns="0" bIns="0" rIns="0">
            <a:spAutoFit/>
          </a:bodyPr>
          <a:lstStyle/>
          <a:p>
            <a:pPr algn="l" marL="0" indent="0" lvl="0">
              <a:lnSpc>
                <a:spcPts val="3376"/>
              </a:lnSpc>
              <a:spcBef>
                <a:spcPct val="0"/>
              </a:spcBef>
            </a:pPr>
            <a:r>
              <a:rPr lang="en-US" sz="2411">
                <a:solidFill>
                  <a:srgbClr val="000000"/>
                </a:solidFill>
                <a:latin typeface="Garet"/>
                <a:ea typeface="Garet"/>
                <a:cs typeface="Garet"/>
                <a:sym typeface="Garet"/>
              </a:rPr>
              <a:t>Identifying potential risks and implementing mitigation strategies is crucial for REMS project success. Proactive risk management ensures system reliability, security, and user satisfaction throughout the platform lifecycle.</a:t>
            </a:r>
          </a:p>
        </p:txBody>
      </p:sp>
      <p:sp>
        <p:nvSpPr>
          <p:cNvPr name="TextBox 24" id="24"/>
          <p:cNvSpPr txBox="true"/>
          <p:nvPr/>
        </p:nvSpPr>
        <p:spPr>
          <a:xfrm rot="0">
            <a:off x="1028700" y="1103756"/>
            <a:ext cx="4554440" cy="780703"/>
          </a:xfrm>
          <a:prstGeom prst="rect">
            <a:avLst/>
          </a:prstGeom>
        </p:spPr>
        <p:txBody>
          <a:bodyPr anchor="t" rtlCol="false" tIns="0" lIns="0" bIns="0" rIns="0">
            <a:spAutoFit/>
          </a:bodyPr>
          <a:lstStyle/>
          <a:p>
            <a:pPr algn="l" marL="0" indent="0" lvl="0">
              <a:lnSpc>
                <a:spcPts val="6262"/>
              </a:lnSpc>
            </a:pPr>
            <a:r>
              <a:rPr lang="en-US" b="true" sz="5091" spc="-259">
                <a:solidFill>
                  <a:srgbClr val="102C57"/>
                </a:solidFill>
                <a:latin typeface="Garet Bold"/>
                <a:ea typeface="Garet Bold"/>
                <a:cs typeface="Garet Bold"/>
                <a:sym typeface="Garet Bold"/>
              </a:rPr>
              <a:t>Risk Analysis</a:t>
            </a:r>
          </a:p>
        </p:txBody>
      </p:sp>
      <p:sp>
        <p:nvSpPr>
          <p:cNvPr name="Freeform 25" id="25"/>
          <p:cNvSpPr/>
          <p:nvPr/>
        </p:nvSpPr>
        <p:spPr>
          <a:xfrm flipH="false" flipV="false" rot="0">
            <a:off x="1028700" y="5199740"/>
            <a:ext cx="574068" cy="574068"/>
          </a:xfrm>
          <a:custGeom>
            <a:avLst/>
            <a:gdLst/>
            <a:ahLst/>
            <a:cxnLst/>
            <a:rect r="r" b="b" t="t" l="l"/>
            <a:pathLst>
              <a:path h="574068" w="574068">
                <a:moveTo>
                  <a:pt x="0" y="0"/>
                </a:moveTo>
                <a:lnTo>
                  <a:pt x="574068" y="0"/>
                </a:lnTo>
                <a:lnTo>
                  <a:pt x="574068" y="574068"/>
                </a:lnTo>
                <a:lnTo>
                  <a:pt x="0" y="5740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6" id="26"/>
          <p:cNvSpPr/>
          <p:nvPr/>
        </p:nvSpPr>
        <p:spPr>
          <a:xfrm flipH="false" flipV="false" rot="0">
            <a:off x="1028700" y="6110999"/>
            <a:ext cx="574068" cy="574068"/>
          </a:xfrm>
          <a:custGeom>
            <a:avLst/>
            <a:gdLst/>
            <a:ahLst/>
            <a:cxnLst/>
            <a:rect r="r" b="b" t="t" l="l"/>
            <a:pathLst>
              <a:path h="574068" w="574068">
                <a:moveTo>
                  <a:pt x="0" y="0"/>
                </a:moveTo>
                <a:lnTo>
                  <a:pt x="574068" y="0"/>
                </a:lnTo>
                <a:lnTo>
                  <a:pt x="574068" y="574068"/>
                </a:lnTo>
                <a:lnTo>
                  <a:pt x="0" y="5740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7" id="27"/>
          <p:cNvSpPr txBox="true"/>
          <p:nvPr/>
        </p:nvSpPr>
        <p:spPr>
          <a:xfrm rot="0">
            <a:off x="1850338" y="5232124"/>
            <a:ext cx="5943866" cy="398424"/>
          </a:xfrm>
          <a:prstGeom prst="rect">
            <a:avLst/>
          </a:prstGeom>
        </p:spPr>
        <p:txBody>
          <a:bodyPr anchor="t" rtlCol="false" tIns="0" lIns="0" bIns="0" rIns="0">
            <a:spAutoFit/>
          </a:bodyPr>
          <a:lstStyle/>
          <a:p>
            <a:pPr algn="l" marL="0" indent="0" lvl="0">
              <a:lnSpc>
                <a:spcPts val="3239"/>
              </a:lnSpc>
              <a:spcBef>
                <a:spcPct val="0"/>
              </a:spcBef>
            </a:pPr>
            <a:r>
              <a:rPr lang="en-US" sz="2313">
                <a:solidFill>
                  <a:srgbClr val="000000"/>
                </a:solidFill>
                <a:latin typeface="Garet"/>
                <a:ea typeface="Garet"/>
                <a:cs typeface="Garet"/>
                <a:sym typeface="Garet"/>
              </a:rPr>
              <a:t>Data Security &amp; Privacy Concerns</a:t>
            </a:r>
          </a:p>
        </p:txBody>
      </p:sp>
      <p:sp>
        <p:nvSpPr>
          <p:cNvPr name="TextBox 28" id="28"/>
          <p:cNvSpPr txBox="true"/>
          <p:nvPr/>
        </p:nvSpPr>
        <p:spPr>
          <a:xfrm rot="0">
            <a:off x="1850338" y="6173035"/>
            <a:ext cx="5943866" cy="398424"/>
          </a:xfrm>
          <a:prstGeom prst="rect">
            <a:avLst/>
          </a:prstGeom>
        </p:spPr>
        <p:txBody>
          <a:bodyPr anchor="t" rtlCol="false" tIns="0" lIns="0" bIns="0" rIns="0">
            <a:spAutoFit/>
          </a:bodyPr>
          <a:lstStyle/>
          <a:p>
            <a:pPr algn="l" marL="0" indent="0" lvl="0">
              <a:lnSpc>
                <a:spcPts val="3239"/>
              </a:lnSpc>
              <a:spcBef>
                <a:spcPct val="0"/>
              </a:spcBef>
            </a:pPr>
            <a:r>
              <a:rPr lang="en-US" sz="2313">
                <a:solidFill>
                  <a:srgbClr val="000000"/>
                </a:solidFill>
                <a:latin typeface="Garet"/>
                <a:ea typeface="Garet"/>
                <a:cs typeface="Garet"/>
                <a:sym typeface="Garet"/>
              </a:rPr>
              <a:t>System Downtime &amp; Technical Failures</a:t>
            </a:r>
          </a:p>
        </p:txBody>
      </p:sp>
      <p:sp>
        <p:nvSpPr>
          <p:cNvPr name="Freeform 29" id="29"/>
          <p:cNvSpPr/>
          <p:nvPr/>
        </p:nvSpPr>
        <p:spPr>
          <a:xfrm flipH="false" flipV="false" rot="0">
            <a:off x="1028700" y="7022257"/>
            <a:ext cx="574068" cy="574068"/>
          </a:xfrm>
          <a:custGeom>
            <a:avLst/>
            <a:gdLst/>
            <a:ahLst/>
            <a:cxnLst/>
            <a:rect r="r" b="b" t="t" l="l"/>
            <a:pathLst>
              <a:path h="574068" w="574068">
                <a:moveTo>
                  <a:pt x="0" y="0"/>
                </a:moveTo>
                <a:lnTo>
                  <a:pt x="574068" y="0"/>
                </a:lnTo>
                <a:lnTo>
                  <a:pt x="574068" y="574068"/>
                </a:lnTo>
                <a:lnTo>
                  <a:pt x="0" y="5740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0" id="30"/>
          <p:cNvSpPr/>
          <p:nvPr/>
        </p:nvSpPr>
        <p:spPr>
          <a:xfrm flipH="false" flipV="false" rot="0">
            <a:off x="1028700" y="7933516"/>
            <a:ext cx="574068" cy="574068"/>
          </a:xfrm>
          <a:custGeom>
            <a:avLst/>
            <a:gdLst/>
            <a:ahLst/>
            <a:cxnLst/>
            <a:rect r="r" b="b" t="t" l="l"/>
            <a:pathLst>
              <a:path h="574068" w="574068">
                <a:moveTo>
                  <a:pt x="0" y="0"/>
                </a:moveTo>
                <a:lnTo>
                  <a:pt x="574068" y="0"/>
                </a:lnTo>
                <a:lnTo>
                  <a:pt x="574068" y="574067"/>
                </a:lnTo>
                <a:lnTo>
                  <a:pt x="0" y="57406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1" id="31"/>
          <p:cNvSpPr txBox="true"/>
          <p:nvPr/>
        </p:nvSpPr>
        <p:spPr>
          <a:xfrm rot="0">
            <a:off x="1850338" y="7086252"/>
            <a:ext cx="4011744" cy="398424"/>
          </a:xfrm>
          <a:prstGeom prst="rect">
            <a:avLst/>
          </a:prstGeom>
        </p:spPr>
        <p:txBody>
          <a:bodyPr anchor="t" rtlCol="false" tIns="0" lIns="0" bIns="0" rIns="0">
            <a:spAutoFit/>
          </a:bodyPr>
          <a:lstStyle/>
          <a:p>
            <a:pPr algn="l" marL="0" indent="0" lvl="0">
              <a:lnSpc>
                <a:spcPts val="3239"/>
              </a:lnSpc>
              <a:spcBef>
                <a:spcPct val="0"/>
              </a:spcBef>
            </a:pPr>
            <a:r>
              <a:rPr lang="en-US" sz="2313">
                <a:solidFill>
                  <a:srgbClr val="000000"/>
                </a:solidFill>
                <a:latin typeface="Garet"/>
                <a:ea typeface="Garet"/>
                <a:cs typeface="Garet"/>
                <a:sym typeface="Garet"/>
              </a:rPr>
              <a:t>User Adoption Challenges</a:t>
            </a:r>
          </a:p>
        </p:txBody>
      </p:sp>
      <p:sp>
        <p:nvSpPr>
          <p:cNvPr name="TextBox 32" id="32"/>
          <p:cNvSpPr txBox="true"/>
          <p:nvPr/>
        </p:nvSpPr>
        <p:spPr>
          <a:xfrm rot="0">
            <a:off x="1850338" y="7995552"/>
            <a:ext cx="3237144" cy="398424"/>
          </a:xfrm>
          <a:prstGeom prst="rect">
            <a:avLst/>
          </a:prstGeom>
        </p:spPr>
        <p:txBody>
          <a:bodyPr anchor="t" rtlCol="false" tIns="0" lIns="0" bIns="0" rIns="0">
            <a:spAutoFit/>
          </a:bodyPr>
          <a:lstStyle/>
          <a:p>
            <a:pPr algn="l" marL="0" indent="0" lvl="0">
              <a:lnSpc>
                <a:spcPts val="3239"/>
              </a:lnSpc>
              <a:spcBef>
                <a:spcPct val="0"/>
              </a:spcBef>
            </a:pPr>
            <a:r>
              <a:rPr lang="en-US" sz="2313">
                <a:solidFill>
                  <a:srgbClr val="000000"/>
                </a:solidFill>
                <a:latin typeface="Garet"/>
                <a:ea typeface="Garet"/>
                <a:cs typeface="Garet"/>
                <a:sym typeface="Garet"/>
              </a:rPr>
              <a:t>Market Competition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FD5D5">
                <a:alpha val="100000"/>
              </a:srgbClr>
            </a:gs>
            <a:gs pos="100000">
              <a:srgbClr val="FFFFF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1289532">
            <a:off x="4884079" y="3617809"/>
            <a:ext cx="15724022" cy="8379769"/>
          </a:xfrm>
          <a:custGeom>
            <a:avLst/>
            <a:gdLst/>
            <a:ahLst/>
            <a:cxnLst/>
            <a:rect r="r" b="b" t="t" l="l"/>
            <a:pathLst>
              <a:path h="8379769" w="15724022">
                <a:moveTo>
                  <a:pt x="0" y="0"/>
                </a:moveTo>
                <a:lnTo>
                  <a:pt x="15724022" y="0"/>
                </a:lnTo>
                <a:lnTo>
                  <a:pt x="15724022" y="8379769"/>
                </a:lnTo>
                <a:lnTo>
                  <a:pt x="0" y="83797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45188"/>
            </a:stretch>
          </a:blipFill>
        </p:spPr>
      </p:sp>
      <p:grpSp>
        <p:nvGrpSpPr>
          <p:cNvPr name="Group 3" id="3"/>
          <p:cNvGrpSpPr/>
          <p:nvPr/>
        </p:nvGrpSpPr>
        <p:grpSpPr>
          <a:xfrm rot="0">
            <a:off x="13707413" y="3132835"/>
            <a:ext cx="9275828" cy="8116350"/>
            <a:chOff x="0" y="0"/>
            <a:chExt cx="812800" cy="711200"/>
          </a:xfrm>
        </p:grpSpPr>
        <p:sp>
          <p:nvSpPr>
            <p:cNvPr name="Freeform 4" id="4"/>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5" id="5"/>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10800000">
            <a:off x="13520375" y="-1267700"/>
            <a:ext cx="9667097" cy="8458710"/>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sp>
        <p:nvSpPr>
          <p:cNvPr name="Freeform 9" id="9"/>
          <p:cNvSpPr/>
          <p:nvPr/>
        </p:nvSpPr>
        <p:spPr>
          <a:xfrm flipH="false" flipV="false" rot="0">
            <a:off x="9144000" y="954780"/>
            <a:ext cx="9426093" cy="8377440"/>
          </a:xfrm>
          <a:custGeom>
            <a:avLst/>
            <a:gdLst/>
            <a:ahLst/>
            <a:cxnLst/>
            <a:rect r="r" b="b" t="t" l="l"/>
            <a:pathLst>
              <a:path h="8377440" w="9426093">
                <a:moveTo>
                  <a:pt x="0" y="0"/>
                </a:moveTo>
                <a:lnTo>
                  <a:pt x="9426093" y="0"/>
                </a:lnTo>
                <a:lnTo>
                  <a:pt x="9426093" y="8377440"/>
                </a:lnTo>
                <a:lnTo>
                  <a:pt x="0" y="83774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9942477" y="1779417"/>
            <a:ext cx="7829140" cy="6728167"/>
            <a:chOff x="0" y="0"/>
            <a:chExt cx="812800" cy="698500"/>
          </a:xfrm>
        </p:grpSpPr>
        <p:sp>
          <p:nvSpPr>
            <p:cNvPr name="Freeform 11" id="1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FFFFFF">
                    <a:alpha val="100000"/>
                  </a:srgbClr>
                </a:gs>
                <a:gs pos="100000">
                  <a:srgbClr val="DFD5D5">
                    <a:alpha val="100000"/>
                  </a:srgbClr>
                </a:gs>
              </a:gsLst>
              <a:lin ang="2700000"/>
            </a:gradFill>
          </p:spPr>
        </p:sp>
        <p:sp>
          <p:nvSpPr>
            <p:cNvPr name="TextBox 12" id="12"/>
            <p:cNvSpPr txBox="true"/>
            <p:nvPr/>
          </p:nvSpPr>
          <p:spPr>
            <a:xfrm>
              <a:off x="114300" y="-38100"/>
              <a:ext cx="584200" cy="7366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10490686" y="2228384"/>
            <a:ext cx="6732720" cy="5830232"/>
            <a:chOff x="0" y="0"/>
            <a:chExt cx="4282440" cy="3708400"/>
          </a:xfrm>
        </p:grpSpPr>
        <p:sp>
          <p:nvSpPr>
            <p:cNvPr name="Freeform 14" id="14"/>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6"/>
              <a:stretch>
                <a:fillRect l="-3536" t="0" r="-3536" b="0"/>
              </a:stretch>
            </a:blipFill>
          </p:spPr>
        </p:sp>
      </p:grpSp>
      <p:grpSp>
        <p:nvGrpSpPr>
          <p:cNvPr name="Group 15" id="15"/>
          <p:cNvGrpSpPr/>
          <p:nvPr/>
        </p:nvGrpSpPr>
        <p:grpSpPr>
          <a:xfrm rot="0">
            <a:off x="5289580" y="9487920"/>
            <a:ext cx="9458659" cy="975659"/>
            <a:chOff x="0" y="0"/>
            <a:chExt cx="3885305" cy="400769"/>
          </a:xfrm>
        </p:grpSpPr>
        <p:sp>
          <p:nvSpPr>
            <p:cNvPr name="Freeform 16" id="16"/>
            <p:cNvSpPr/>
            <p:nvPr/>
          </p:nvSpPr>
          <p:spPr>
            <a:xfrm flipH="false" flipV="false" rot="0">
              <a:off x="0" y="0"/>
              <a:ext cx="3885305" cy="400769"/>
            </a:xfrm>
            <a:custGeom>
              <a:avLst/>
              <a:gdLst/>
              <a:ahLst/>
              <a:cxnLst/>
              <a:rect r="r" b="b" t="t" l="l"/>
              <a:pathLst>
                <a:path h="400769" w="3885305">
                  <a:moveTo>
                    <a:pt x="203200" y="0"/>
                  </a:moveTo>
                  <a:lnTo>
                    <a:pt x="3885305" y="0"/>
                  </a:lnTo>
                  <a:lnTo>
                    <a:pt x="3682105" y="400769"/>
                  </a:lnTo>
                  <a:lnTo>
                    <a:pt x="0" y="400769"/>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17" id="17"/>
            <p:cNvSpPr txBox="true"/>
            <p:nvPr/>
          </p:nvSpPr>
          <p:spPr>
            <a:xfrm>
              <a:off x="101600" y="-38100"/>
              <a:ext cx="3682105" cy="438869"/>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025509" y="9487920"/>
            <a:ext cx="7099698" cy="975659"/>
            <a:chOff x="0" y="0"/>
            <a:chExt cx="2916322" cy="400769"/>
          </a:xfrm>
        </p:grpSpPr>
        <p:sp>
          <p:nvSpPr>
            <p:cNvPr name="Freeform 19" id="19"/>
            <p:cNvSpPr/>
            <p:nvPr/>
          </p:nvSpPr>
          <p:spPr>
            <a:xfrm flipH="false" flipV="false" rot="0">
              <a:off x="0" y="0"/>
              <a:ext cx="2916322" cy="400769"/>
            </a:xfrm>
            <a:custGeom>
              <a:avLst/>
              <a:gdLst/>
              <a:ahLst/>
              <a:cxnLst/>
              <a:rect r="r" b="b" t="t" l="l"/>
              <a:pathLst>
                <a:path h="400769" w="2916322">
                  <a:moveTo>
                    <a:pt x="203200" y="0"/>
                  </a:moveTo>
                  <a:lnTo>
                    <a:pt x="2916322" y="0"/>
                  </a:lnTo>
                  <a:lnTo>
                    <a:pt x="2713122" y="400769"/>
                  </a:lnTo>
                  <a:lnTo>
                    <a:pt x="0" y="400769"/>
                  </a:lnTo>
                  <a:lnTo>
                    <a:pt x="203200" y="0"/>
                  </a:lnTo>
                  <a:close/>
                </a:path>
              </a:pathLst>
            </a:custGeom>
            <a:gradFill rotWithShape="true">
              <a:gsLst>
                <a:gs pos="0">
                  <a:srgbClr val="162F56">
                    <a:alpha val="100000"/>
                  </a:srgbClr>
                </a:gs>
                <a:gs pos="100000">
                  <a:srgbClr val="18407D">
                    <a:alpha val="100000"/>
                  </a:srgbClr>
                </a:gs>
              </a:gsLst>
              <a:lin ang="0"/>
            </a:gradFill>
          </p:spPr>
        </p:sp>
        <p:sp>
          <p:nvSpPr>
            <p:cNvPr name="TextBox 20" id="20"/>
            <p:cNvSpPr txBox="true"/>
            <p:nvPr/>
          </p:nvSpPr>
          <p:spPr>
            <a:xfrm>
              <a:off x="101600" y="-38100"/>
              <a:ext cx="2713122" cy="438869"/>
            </a:xfrm>
            <a:prstGeom prst="rect">
              <a:avLst/>
            </a:prstGeom>
          </p:spPr>
          <p:txBody>
            <a:bodyPr anchor="ctr" rtlCol="false" tIns="50800" lIns="50800" bIns="50800" rIns="50800"/>
            <a:lstStyle/>
            <a:p>
              <a:pPr algn="ctr" marL="0" indent="0" lvl="0">
                <a:lnSpc>
                  <a:spcPts val="2659"/>
                </a:lnSpc>
              </a:pPr>
            </a:p>
          </p:txBody>
        </p:sp>
      </p:grpSp>
      <p:sp>
        <p:nvSpPr>
          <p:cNvPr name="Freeform 21" id="21"/>
          <p:cNvSpPr/>
          <p:nvPr/>
        </p:nvSpPr>
        <p:spPr>
          <a:xfrm flipH="false" flipV="false" rot="0">
            <a:off x="9719109" y="1295491"/>
            <a:ext cx="446735" cy="335051"/>
          </a:xfrm>
          <a:custGeom>
            <a:avLst/>
            <a:gdLst/>
            <a:ahLst/>
            <a:cxnLst/>
            <a:rect r="r" b="b" t="t" l="l"/>
            <a:pathLst>
              <a:path h="335051" w="446735">
                <a:moveTo>
                  <a:pt x="0" y="0"/>
                </a:moveTo>
                <a:lnTo>
                  <a:pt x="446735" y="0"/>
                </a:lnTo>
                <a:lnTo>
                  <a:pt x="446735" y="335051"/>
                </a:lnTo>
                <a:lnTo>
                  <a:pt x="0" y="3350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0699540" y="8507583"/>
            <a:ext cx="446735" cy="335051"/>
          </a:xfrm>
          <a:custGeom>
            <a:avLst/>
            <a:gdLst/>
            <a:ahLst/>
            <a:cxnLst/>
            <a:rect r="r" b="b" t="t" l="l"/>
            <a:pathLst>
              <a:path h="335051" w="446735">
                <a:moveTo>
                  <a:pt x="0" y="0"/>
                </a:moveTo>
                <a:lnTo>
                  <a:pt x="446735" y="0"/>
                </a:lnTo>
                <a:lnTo>
                  <a:pt x="446735" y="335051"/>
                </a:lnTo>
                <a:lnTo>
                  <a:pt x="0" y="3350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3" id="23"/>
          <p:cNvSpPr txBox="true"/>
          <p:nvPr/>
        </p:nvSpPr>
        <p:spPr>
          <a:xfrm rot="0">
            <a:off x="1105133" y="1956206"/>
            <a:ext cx="8913777" cy="1626555"/>
          </a:xfrm>
          <a:prstGeom prst="rect">
            <a:avLst/>
          </a:prstGeom>
        </p:spPr>
        <p:txBody>
          <a:bodyPr anchor="t" rtlCol="false" tIns="0" lIns="0" bIns="0" rIns="0">
            <a:spAutoFit/>
          </a:bodyPr>
          <a:lstStyle/>
          <a:p>
            <a:pPr algn="l" marL="0" indent="0" lvl="0">
              <a:lnSpc>
                <a:spcPts val="3272"/>
              </a:lnSpc>
              <a:spcBef>
                <a:spcPct val="0"/>
              </a:spcBef>
            </a:pPr>
            <a:r>
              <a:rPr lang="en-US" sz="2337">
                <a:solidFill>
                  <a:srgbClr val="000000"/>
                </a:solidFill>
                <a:latin typeface="Garet"/>
                <a:ea typeface="Garet"/>
                <a:cs typeface="Garet"/>
                <a:sym typeface="Garet"/>
              </a:rPr>
              <a:t>While REMS offers significant improvements to real estate management, it is important to acknowledge current system constraints that may affect implementation and usage in certain scenarios.</a:t>
            </a:r>
          </a:p>
        </p:txBody>
      </p:sp>
      <p:sp>
        <p:nvSpPr>
          <p:cNvPr name="TextBox 24" id="24"/>
          <p:cNvSpPr txBox="true"/>
          <p:nvPr/>
        </p:nvSpPr>
        <p:spPr>
          <a:xfrm rot="0">
            <a:off x="1028700" y="933830"/>
            <a:ext cx="4554440" cy="855379"/>
          </a:xfrm>
          <a:prstGeom prst="rect">
            <a:avLst/>
          </a:prstGeom>
        </p:spPr>
        <p:txBody>
          <a:bodyPr anchor="t" rtlCol="false" tIns="0" lIns="0" bIns="0" rIns="0">
            <a:spAutoFit/>
          </a:bodyPr>
          <a:lstStyle/>
          <a:p>
            <a:pPr algn="l" marL="0" indent="0" lvl="0">
              <a:lnSpc>
                <a:spcPts val="6754"/>
              </a:lnSpc>
            </a:pPr>
            <a:r>
              <a:rPr lang="en-US" b="true" sz="5491" spc="-280">
                <a:solidFill>
                  <a:srgbClr val="102C57"/>
                </a:solidFill>
                <a:latin typeface="Garet Bold"/>
                <a:ea typeface="Garet Bold"/>
                <a:cs typeface="Garet Bold"/>
                <a:sym typeface="Garet Bold"/>
              </a:rPr>
              <a:t>Limitations</a:t>
            </a:r>
          </a:p>
        </p:txBody>
      </p:sp>
      <p:sp>
        <p:nvSpPr>
          <p:cNvPr name="Freeform 25" id="25"/>
          <p:cNvSpPr/>
          <p:nvPr/>
        </p:nvSpPr>
        <p:spPr>
          <a:xfrm flipH="false" flipV="false" rot="0">
            <a:off x="1021405" y="5192485"/>
            <a:ext cx="603433" cy="604189"/>
          </a:xfrm>
          <a:custGeom>
            <a:avLst/>
            <a:gdLst/>
            <a:ahLst/>
            <a:cxnLst/>
            <a:rect r="r" b="b" t="t" l="l"/>
            <a:pathLst>
              <a:path h="604189" w="603433">
                <a:moveTo>
                  <a:pt x="0" y="0"/>
                </a:moveTo>
                <a:lnTo>
                  <a:pt x="603434" y="0"/>
                </a:lnTo>
                <a:lnTo>
                  <a:pt x="603434" y="604189"/>
                </a:lnTo>
                <a:lnTo>
                  <a:pt x="0" y="604189"/>
                </a:lnTo>
                <a:lnTo>
                  <a:pt x="0" y="0"/>
                </a:lnTo>
                <a:close/>
              </a:path>
            </a:pathLst>
          </a:custGeom>
          <a:blipFill>
            <a:blip r:embed="rId9"/>
            <a:stretch>
              <a:fillRect l="0" t="0" r="0" b="0"/>
            </a:stretch>
          </a:blipFill>
        </p:spPr>
      </p:sp>
      <p:sp>
        <p:nvSpPr>
          <p:cNvPr name="Freeform 26" id="26"/>
          <p:cNvSpPr/>
          <p:nvPr/>
        </p:nvSpPr>
        <p:spPr>
          <a:xfrm flipH="false" flipV="false" rot="0">
            <a:off x="1028700" y="6110999"/>
            <a:ext cx="574068" cy="574068"/>
          </a:xfrm>
          <a:custGeom>
            <a:avLst/>
            <a:gdLst/>
            <a:ahLst/>
            <a:cxnLst/>
            <a:rect r="r" b="b" t="t" l="l"/>
            <a:pathLst>
              <a:path h="574068" w="574068">
                <a:moveTo>
                  <a:pt x="0" y="0"/>
                </a:moveTo>
                <a:lnTo>
                  <a:pt x="574068" y="0"/>
                </a:lnTo>
                <a:lnTo>
                  <a:pt x="574068" y="574068"/>
                </a:lnTo>
                <a:lnTo>
                  <a:pt x="0" y="574068"/>
                </a:lnTo>
                <a:lnTo>
                  <a:pt x="0" y="0"/>
                </a:lnTo>
                <a:close/>
              </a:path>
            </a:pathLst>
          </a:custGeom>
          <a:blipFill>
            <a:blip r:embed="rId10"/>
            <a:stretch>
              <a:fillRect l="0" t="0" r="0" b="0"/>
            </a:stretch>
          </a:blipFill>
        </p:spPr>
      </p:sp>
      <p:sp>
        <p:nvSpPr>
          <p:cNvPr name="TextBox 27" id="27"/>
          <p:cNvSpPr txBox="true"/>
          <p:nvPr/>
        </p:nvSpPr>
        <p:spPr>
          <a:xfrm rot="0">
            <a:off x="1850338" y="5241649"/>
            <a:ext cx="6090361" cy="388278"/>
          </a:xfrm>
          <a:prstGeom prst="rect">
            <a:avLst/>
          </a:prstGeom>
        </p:spPr>
        <p:txBody>
          <a:bodyPr anchor="t" rtlCol="false" tIns="0" lIns="0" bIns="0" rIns="0">
            <a:spAutoFit/>
          </a:bodyPr>
          <a:lstStyle/>
          <a:p>
            <a:pPr algn="l" marL="0" indent="0" lvl="0">
              <a:lnSpc>
                <a:spcPts val="3273"/>
              </a:lnSpc>
              <a:spcBef>
                <a:spcPct val="0"/>
              </a:spcBef>
            </a:pPr>
            <a:r>
              <a:rPr lang="en-US" sz="2338">
                <a:solidFill>
                  <a:srgbClr val="000000"/>
                </a:solidFill>
                <a:latin typeface="Garet"/>
                <a:ea typeface="Garet"/>
                <a:cs typeface="Garet"/>
                <a:sym typeface="Garet"/>
              </a:rPr>
              <a:t>Limited legacy system integration</a:t>
            </a:r>
          </a:p>
        </p:txBody>
      </p:sp>
      <p:sp>
        <p:nvSpPr>
          <p:cNvPr name="TextBox 28" id="28"/>
          <p:cNvSpPr txBox="true"/>
          <p:nvPr/>
        </p:nvSpPr>
        <p:spPr>
          <a:xfrm rot="0">
            <a:off x="1850338" y="6182560"/>
            <a:ext cx="5322110" cy="388278"/>
          </a:xfrm>
          <a:prstGeom prst="rect">
            <a:avLst/>
          </a:prstGeom>
        </p:spPr>
        <p:txBody>
          <a:bodyPr anchor="t" rtlCol="false" tIns="0" lIns="0" bIns="0" rIns="0">
            <a:spAutoFit/>
          </a:bodyPr>
          <a:lstStyle/>
          <a:p>
            <a:pPr algn="l" marL="0" indent="0" lvl="0">
              <a:lnSpc>
                <a:spcPts val="3273"/>
              </a:lnSpc>
              <a:spcBef>
                <a:spcPct val="0"/>
              </a:spcBef>
            </a:pPr>
            <a:r>
              <a:rPr lang="en-US" sz="2338">
                <a:solidFill>
                  <a:srgbClr val="000000"/>
                </a:solidFill>
                <a:latin typeface="Garet"/>
                <a:ea typeface="Garet"/>
                <a:cs typeface="Garet"/>
                <a:sym typeface="Garet"/>
              </a:rPr>
              <a:t>Scalability with large data volumes</a:t>
            </a:r>
          </a:p>
        </p:txBody>
      </p:sp>
      <p:sp>
        <p:nvSpPr>
          <p:cNvPr name="Freeform 29" id="29"/>
          <p:cNvSpPr/>
          <p:nvPr/>
        </p:nvSpPr>
        <p:spPr>
          <a:xfrm flipH="false" flipV="false" rot="0">
            <a:off x="1028700" y="7022393"/>
            <a:ext cx="574068" cy="575294"/>
          </a:xfrm>
          <a:custGeom>
            <a:avLst/>
            <a:gdLst/>
            <a:ahLst/>
            <a:cxnLst/>
            <a:rect r="r" b="b" t="t" l="l"/>
            <a:pathLst>
              <a:path h="575294" w="574068">
                <a:moveTo>
                  <a:pt x="0" y="0"/>
                </a:moveTo>
                <a:lnTo>
                  <a:pt x="574068" y="0"/>
                </a:lnTo>
                <a:lnTo>
                  <a:pt x="574068" y="575294"/>
                </a:lnTo>
                <a:lnTo>
                  <a:pt x="0" y="575294"/>
                </a:lnTo>
                <a:lnTo>
                  <a:pt x="0" y="0"/>
                </a:lnTo>
                <a:close/>
              </a:path>
            </a:pathLst>
          </a:custGeom>
          <a:blipFill>
            <a:blip r:embed="rId11"/>
            <a:stretch>
              <a:fillRect l="0" t="0" r="0" b="0"/>
            </a:stretch>
          </a:blipFill>
        </p:spPr>
      </p:sp>
      <p:sp>
        <p:nvSpPr>
          <p:cNvPr name="Freeform 30" id="30"/>
          <p:cNvSpPr/>
          <p:nvPr/>
        </p:nvSpPr>
        <p:spPr>
          <a:xfrm flipH="false" flipV="false" rot="0">
            <a:off x="1008721" y="7910085"/>
            <a:ext cx="606370" cy="606370"/>
          </a:xfrm>
          <a:custGeom>
            <a:avLst/>
            <a:gdLst/>
            <a:ahLst/>
            <a:cxnLst/>
            <a:rect r="r" b="b" t="t" l="l"/>
            <a:pathLst>
              <a:path h="606370" w="606370">
                <a:moveTo>
                  <a:pt x="0" y="0"/>
                </a:moveTo>
                <a:lnTo>
                  <a:pt x="606370" y="0"/>
                </a:lnTo>
                <a:lnTo>
                  <a:pt x="606370" y="606371"/>
                </a:lnTo>
                <a:lnTo>
                  <a:pt x="0" y="606371"/>
                </a:lnTo>
                <a:lnTo>
                  <a:pt x="0" y="0"/>
                </a:lnTo>
                <a:close/>
              </a:path>
            </a:pathLst>
          </a:custGeom>
          <a:blipFill>
            <a:blip r:embed="rId12"/>
            <a:stretch>
              <a:fillRect l="0" t="0" r="0" b="0"/>
            </a:stretch>
          </a:blipFill>
        </p:spPr>
      </p:sp>
      <p:sp>
        <p:nvSpPr>
          <p:cNvPr name="TextBox 31" id="31"/>
          <p:cNvSpPr txBox="true"/>
          <p:nvPr/>
        </p:nvSpPr>
        <p:spPr>
          <a:xfrm rot="0">
            <a:off x="1850338" y="7095777"/>
            <a:ext cx="7609236" cy="388278"/>
          </a:xfrm>
          <a:prstGeom prst="rect">
            <a:avLst/>
          </a:prstGeom>
        </p:spPr>
        <p:txBody>
          <a:bodyPr anchor="t" rtlCol="false" tIns="0" lIns="0" bIns="0" rIns="0">
            <a:spAutoFit/>
          </a:bodyPr>
          <a:lstStyle/>
          <a:p>
            <a:pPr algn="l" marL="0" indent="0" lvl="0">
              <a:lnSpc>
                <a:spcPts val="3273"/>
              </a:lnSpc>
              <a:spcBef>
                <a:spcPct val="0"/>
              </a:spcBef>
            </a:pPr>
            <a:r>
              <a:rPr lang="en-US" sz="2338">
                <a:solidFill>
                  <a:srgbClr val="000000"/>
                </a:solidFill>
                <a:latin typeface="Garet"/>
                <a:ea typeface="Garet"/>
                <a:cs typeface="Garet"/>
                <a:sym typeface="Garet"/>
              </a:rPr>
              <a:t>Dependence on internet connectivity</a:t>
            </a:r>
          </a:p>
        </p:txBody>
      </p:sp>
      <p:sp>
        <p:nvSpPr>
          <p:cNvPr name="TextBox 32" id="32"/>
          <p:cNvSpPr txBox="true"/>
          <p:nvPr/>
        </p:nvSpPr>
        <p:spPr>
          <a:xfrm rot="0">
            <a:off x="1850338" y="8005077"/>
            <a:ext cx="6090361" cy="388278"/>
          </a:xfrm>
          <a:prstGeom prst="rect">
            <a:avLst/>
          </a:prstGeom>
        </p:spPr>
        <p:txBody>
          <a:bodyPr anchor="t" rtlCol="false" tIns="0" lIns="0" bIns="0" rIns="0">
            <a:spAutoFit/>
          </a:bodyPr>
          <a:lstStyle/>
          <a:p>
            <a:pPr algn="l" marL="0" indent="0" lvl="0">
              <a:lnSpc>
                <a:spcPts val="3273"/>
              </a:lnSpc>
              <a:spcBef>
                <a:spcPct val="0"/>
              </a:spcBef>
            </a:pPr>
            <a:r>
              <a:rPr lang="en-US" sz="2338">
                <a:solidFill>
                  <a:srgbClr val="000000"/>
                </a:solidFill>
                <a:latin typeface="Garet"/>
                <a:ea typeface="Garet"/>
                <a:cs typeface="Garet"/>
                <a:sym typeface="Garet"/>
              </a:rPr>
              <a:t>Initial user training required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FD5D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1289532">
            <a:off x="2681354" y="5821553"/>
            <a:ext cx="9566967" cy="5098503"/>
          </a:xfrm>
          <a:custGeom>
            <a:avLst/>
            <a:gdLst/>
            <a:ahLst/>
            <a:cxnLst/>
            <a:rect r="r" b="b" t="t" l="l"/>
            <a:pathLst>
              <a:path h="5098503" w="9566967">
                <a:moveTo>
                  <a:pt x="9566966" y="0"/>
                </a:moveTo>
                <a:lnTo>
                  <a:pt x="0" y="0"/>
                </a:lnTo>
                <a:lnTo>
                  <a:pt x="0" y="5098503"/>
                </a:lnTo>
                <a:lnTo>
                  <a:pt x="9566966" y="5098503"/>
                </a:lnTo>
                <a:lnTo>
                  <a:pt x="9566966" y="0"/>
                </a:lnTo>
                <a:close/>
              </a:path>
            </a:pathLst>
          </a:custGeom>
          <a:blipFill>
            <a:blip r:embed="rId2">
              <a:alphaModFix amt="4000"/>
              <a:extLst>
                <a:ext uri="{96DAC541-7B7A-43D3-8B79-37D633B846F1}">
                  <asvg:svgBlip xmlns:asvg="http://schemas.microsoft.com/office/drawing/2016/SVG/main" r:embed="rId3"/>
                </a:ext>
              </a:extLst>
            </a:blip>
            <a:stretch>
              <a:fillRect l="0" t="0" r="0" b="-45188"/>
            </a:stretch>
          </a:blipFill>
        </p:spPr>
      </p:sp>
      <p:grpSp>
        <p:nvGrpSpPr>
          <p:cNvPr name="Group 3" id="3"/>
          <p:cNvGrpSpPr/>
          <p:nvPr/>
        </p:nvGrpSpPr>
        <p:grpSpPr>
          <a:xfrm rot="0">
            <a:off x="11467265" y="0"/>
            <a:ext cx="6820735" cy="10287000"/>
            <a:chOff x="0" y="0"/>
            <a:chExt cx="9094313" cy="13716000"/>
          </a:xfrm>
        </p:grpSpPr>
        <p:pic>
          <p:nvPicPr>
            <p:cNvPr name="Picture 4" id="4"/>
            <p:cNvPicPr>
              <a:picLocks noChangeAspect="true"/>
            </p:cNvPicPr>
            <p:nvPr/>
          </p:nvPicPr>
          <p:blipFill>
            <a:blip r:embed="rId4"/>
            <a:srcRect l="794" t="0" r="794" b="0"/>
            <a:stretch>
              <a:fillRect/>
            </a:stretch>
          </p:blipFill>
          <p:spPr>
            <a:xfrm flipH="false" flipV="false">
              <a:off x="0" y="0"/>
              <a:ext cx="9094313" cy="13716000"/>
            </a:xfrm>
            <a:prstGeom prst="rect">
              <a:avLst/>
            </a:prstGeom>
          </p:spPr>
        </p:pic>
      </p:grpSp>
      <p:grpSp>
        <p:nvGrpSpPr>
          <p:cNvPr name="Group 5" id="5"/>
          <p:cNvGrpSpPr/>
          <p:nvPr/>
        </p:nvGrpSpPr>
        <p:grpSpPr>
          <a:xfrm rot="0">
            <a:off x="6751276" y="3538633"/>
            <a:ext cx="10809840" cy="9458610"/>
            <a:chOff x="0" y="0"/>
            <a:chExt cx="812800" cy="711200"/>
          </a:xfrm>
        </p:grpSpPr>
        <p:sp>
          <p:nvSpPr>
            <p:cNvPr name="Freeform 6" id="6"/>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7" id="7"/>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10800000">
            <a:off x="8531712" y="-187385"/>
            <a:ext cx="5765275" cy="5044616"/>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10" id="10"/>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740863" y="3122679"/>
            <a:ext cx="9643275" cy="4338206"/>
          </a:xfrm>
          <a:prstGeom prst="rect">
            <a:avLst/>
          </a:prstGeom>
        </p:spPr>
        <p:txBody>
          <a:bodyPr anchor="t" rtlCol="false" tIns="0" lIns="0" bIns="0" rIns="0">
            <a:spAutoFit/>
          </a:bodyPr>
          <a:lstStyle/>
          <a:p>
            <a:pPr algn="just" marL="0" indent="0" lvl="0">
              <a:lnSpc>
                <a:spcPts val="4528"/>
              </a:lnSpc>
            </a:pPr>
            <a:r>
              <a:rPr lang="en-US" b="true" sz="3018">
                <a:solidFill>
                  <a:srgbClr val="000000"/>
                </a:solidFill>
                <a:latin typeface="Garet Bold"/>
                <a:ea typeface="Garet Bold"/>
                <a:cs typeface="Garet Bold"/>
                <a:sym typeface="Garet Bold"/>
              </a:rPr>
              <a:t>REMS provides efficient property management with centralized PostgreSQL reliability. </a:t>
            </a:r>
          </a:p>
          <a:p>
            <a:pPr algn="just" marL="0" indent="0" lvl="0">
              <a:lnSpc>
                <a:spcPts val="4528"/>
              </a:lnSpc>
            </a:pPr>
          </a:p>
          <a:p>
            <a:pPr algn="just" marL="0" indent="0" lvl="0">
              <a:lnSpc>
                <a:spcPts val="4528"/>
              </a:lnSpc>
              <a:spcBef>
                <a:spcPct val="0"/>
              </a:spcBef>
            </a:pPr>
            <a:r>
              <a:rPr lang="en-US" b="true" sz="3018">
                <a:solidFill>
                  <a:srgbClr val="000000"/>
                </a:solidFill>
                <a:latin typeface="Garet Bold"/>
                <a:ea typeface="Garet Bold"/>
                <a:cs typeface="Garet Bold"/>
                <a:sym typeface="Garet Bold"/>
              </a:rPr>
              <a:t>System meets objectives of data consistency, admin control, and improved user experience; future work focuses on AI, mobile, and enhanced automation.</a:t>
            </a:r>
          </a:p>
          <a:p>
            <a:pPr algn="l" marL="0" indent="0" lvl="0">
              <a:lnSpc>
                <a:spcPts val="2633"/>
              </a:lnSpc>
              <a:spcBef>
                <a:spcPct val="0"/>
              </a:spcBef>
            </a:pPr>
          </a:p>
        </p:txBody>
      </p:sp>
      <p:sp>
        <p:nvSpPr>
          <p:cNvPr name="Freeform 12" id="12"/>
          <p:cNvSpPr/>
          <p:nvPr/>
        </p:nvSpPr>
        <p:spPr>
          <a:xfrm flipH="false" flipV="false" rot="0">
            <a:off x="8611076" y="6107574"/>
            <a:ext cx="7090241" cy="6301451"/>
          </a:xfrm>
          <a:custGeom>
            <a:avLst/>
            <a:gdLst/>
            <a:ahLst/>
            <a:cxnLst/>
            <a:rect r="r" b="b" t="t" l="l"/>
            <a:pathLst>
              <a:path h="6301451" w="7090241">
                <a:moveTo>
                  <a:pt x="0" y="0"/>
                </a:moveTo>
                <a:lnTo>
                  <a:pt x="7090241" y="0"/>
                </a:lnTo>
                <a:lnTo>
                  <a:pt x="7090241" y="6301452"/>
                </a:lnTo>
                <a:lnTo>
                  <a:pt x="0" y="63014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9211685" y="6544067"/>
            <a:ext cx="5889024" cy="5060880"/>
            <a:chOff x="0" y="0"/>
            <a:chExt cx="812800" cy="698500"/>
          </a:xfrm>
        </p:grpSpPr>
        <p:sp>
          <p:nvSpPr>
            <p:cNvPr name="Freeform 14" id="1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FFFFFF">
                    <a:alpha val="100000"/>
                  </a:srgbClr>
                </a:gs>
                <a:gs pos="100000">
                  <a:srgbClr val="DFD5D5">
                    <a:alpha val="100000"/>
                  </a:srgbClr>
                </a:gs>
              </a:gsLst>
              <a:lin ang="2700000"/>
            </a:gradFill>
          </p:spPr>
        </p:sp>
        <p:sp>
          <p:nvSpPr>
            <p:cNvPr name="TextBox 15" id="15"/>
            <p:cNvSpPr txBox="true"/>
            <p:nvPr/>
          </p:nvSpPr>
          <p:spPr>
            <a:xfrm>
              <a:off x="114300" y="-38100"/>
              <a:ext cx="584200" cy="736600"/>
            </a:xfrm>
            <a:prstGeom prst="rect">
              <a:avLst/>
            </a:prstGeom>
          </p:spPr>
          <p:txBody>
            <a:bodyPr anchor="ctr" rtlCol="false" tIns="50800" lIns="50800" bIns="50800" rIns="50800"/>
            <a:lstStyle/>
            <a:p>
              <a:pPr algn="ctr" marL="0" indent="0" lvl="0">
                <a:lnSpc>
                  <a:spcPts val="2659"/>
                </a:lnSpc>
              </a:pPr>
            </a:p>
          </p:txBody>
        </p:sp>
      </p:grpSp>
      <p:grpSp>
        <p:nvGrpSpPr>
          <p:cNvPr name="Group 16" id="16"/>
          <p:cNvGrpSpPr/>
          <p:nvPr/>
        </p:nvGrpSpPr>
        <p:grpSpPr>
          <a:xfrm rot="0">
            <a:off x="9624044" y="6881777"/>
            <a:ext cx="5064305" cy="4385459"/>
            <a:chOff x="0" y="0"/>
            <a:chExt cx="4282440" cy="3708400"/>
          </a:xfrm>
        </p:grpSpPr>
        <p:sp>
          <p:nvSpPr>
            <p:cNvPr name="Freeform 17" id="17"/>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7"/>
              <a:stretch>
                <a:fillRect l="-3536" t="0" r="-3536" b="0"/>
              </a:stretch>
            </a:blipFill>
          </p:spPr>
        </p:sp>
      </p:grpSp>
      <p:grpSp>
        <p:nvGrpSpPr>
          <p:cNvPr name="Group 18" id="18"/>
          <p:cNvGrpSpPr/>
          <p:nvPr/>
        </p:nvGrpSpPr>
        <p:grpSpPr>
          <a:xfrm rot="0">
            <a:off x="-1874551" y="809949"/>
            <a:ext cx="8416934" cy="962132"/>
            <a:chOff x="0" y="0"/>
            <a:chExt cx="7281212" cy="832309"/>
          </a:xfrm>
        </p:grpSpPr>
        <p:sp>
          <p:nvSpPr>
            <p:cNvPr name="Freeform 19" id="19"/>
            <p:cNvSpPr/>
            <p:nvPr/>
          </p:nvSpPr>
          <p:spPr>
            <a:xfrm flipH="false" flipV="false" rot="0">
              <a:off x="0" y="0"/>
              <a:ext cx="7281212" cy="832308"/>
            </a:xfrm>
            <a:custGeom>
              <a:avLst/>
              <a:gdLst/>
              <a:ahLst/>
              <a:cxnLst/>
              <a:rect r="r" b="b" t="t" l="l"/>
              <a:pathLst>
                <a:path h="832308" w="7281212">
                  <a:moveTo>
                    <a:pt x="7281212" y="416154"/>
                  </a:moveTo>
                  <a:lnTo>
                    <a:pt x="7078012" y="832308"/>
                  </a:lnTo>
                  <a:lnTo>
                    <a:pt x="203200" y="832308"/>
                  </a:lnTo>
                  <a:lnTo>
                    <a:pt x="0" y="416154"/>
                  </a:lnTo>
                  <a:lnTo>
                    <a:pt x="203200" y="0"/>
                  </a:lnTo>
                  <a:lnTo>
                    <a:pt x="7078012" y="0"/>
                  </a:lnTo>
                  <a:lnTo>
                    <a:pt x="7281212" y="416154"/>
                  </a:lnTo>
                  <a:close/>
                </a:path>
              </a:pathLst>
            </a:custGeom>
            <a:gradFill rotWithShape="true">
              <a:gsLst>
                <a:gs pos="0">
                  <a:srgbClr val="162F56">
                    <a:alpha val="100000"/>
                  </a:srgbClr>
                </a:gs>
                <a:gs pos="100000">
                  <a:srgbClr val="18407D">
                    <a:alpha val="100000"/>
                  </a:srgbClr>
                </a:gs>
              </a:gsLst>
              <a:lin ang="0"/>
            </a:gradFill>
          </p:spPr>
        </p:sp>
        <p:sp>
          <p:nvSpPr>
            <p:cNvPr name="TextBox 20" id="20"/>
            <p:cNvSpPr txBox="true"/>
            <p:nvPr/>
          </p:nvSpPr>
          <p:spPr>
            <a:xfrm>
              <a:off x="114300" y="-38100"/>
              <a:ext cx="7052612" cy="870409"/>
            </a:xfrm>
            <a:prstGeom prst="rect">
              <a:avLst/>
            </a:prstGeom>
          </p:spPr>
          <p:txBody>
            <a:bodyPr anchor="ctr" rtlCol="false" tIns="50800" lIns="50800" bIns="50800" rIns="50800"/>
            <a:lstStyle/>
            <a:p>
              <a:pPr algn="ctr" marL="0" indent="0" lvl="0">
                <a:lnSpc>
                  <a:spcPts val="2659"/>
                </a:lnSpc>
              </a:pPr>
            </a:p>
          </p:txBody>
        </p:sp>
      </p:grpSp>
      <p:sp>
        <p:nvSpPr>
          <p:cNvPr name="Freeform 21" id="21"/>
          <p:cNvSpPr/>
          <p:nvPr/>
        </p:nvSpPr>
        <p:spPr>
          <a:xfrm flipH="false" flipV="false" rot="0">
            <a:off x="5627826" y="972763"/>
            <a:ext cx="556218" cy="481823"/>
          </a:xfrm>
          <a:custGeom>
            <a:avLst/>
            <a:gdLst/>
            <a:ahLst/>
            <a:cxnLst/>
            <a:rect r="r" b="b" t="t" l="l"/>
            <a:pathLst>
              <a:path h="481823" w="556218">
                <a:moveTo>
                  <a:pt x="0" y="0"/>
                </a:moveTo>
                <a:lnTo>
                  <a:pt x="556217" y="0"/>
                </a:lnTo>
                <a:lnTo>
                  <a:pt x="556217" y="481824"/>
                </a:lnTo>
                <a:lnTo>
                  <a:pt x="0" y="4818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2" id="22"/>
          <p:cNvSpPr txBox="true"/>
          <p:nvPr/>
        </p:nvSpPr>
        <p:spPr>
          <a:xfrm rot="0">
            <a:off x="740863" y="961743"/>
            <a:ext cx="5154962" cy="622348"/>
          </a:xfrm>
          <a:prstGeom prst="rect">
            <a:avLst/>
          </a:prstGeom>
        </p:spPr>
        <p:txBody>
          <a:bodyPr anchor="t" rtlCol="false" tIns="0" lIns="0" bIns="0" rIns="0">
            <a:spAutoFit/>
          </a:bodyPr>
          <a:lstStyle/>
          <a:p>
            <a:pPr algn="just" marL="0" indent="0" lvl="0">
              <a:lnSpc>
                <a:spcPts val="5072"/>
              </a:lnSpc>
              <a:spcBef>
                <a:spcPct val="0"/>
              </a:spcBef>
            </a:pPr>
            <a:r>
              <a:rPr lang="en-US" b="true" sz="3623">
                <a:solidFill>
                  <a:srgbClr val="FFFFFF"/>
                </a:solidFill>
                <a:latin typeface="Garet Bold"/>
                <a:ea typeface="Garet Bold"/>
                <a:cs typeface="Garet Bold"/>
                <a:sym typeface="Garet Bold"/>
              </a:rPr>
              <a:t>C</a:t>
            </a:r>
            <a:r>
              <a:rPr lang="en-US" b="true" sz="3623">
                <a:solidFill>
                  <a:srgbClr val="FFFFFF"/>
                </a:solidFill>
                <a:latin typeface="Garet Bold"/>
                <a:ea typeface="Garet Bold"/>
                <a:cs typeface="Garet Bold"/>
                <a:sym typeface="Garet Bold"/>
              </a:rPr>
              <a:t>ONCLUSIONS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DFD5D5">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7212407">
            <a:off x="6615728" y="795767"/>
            <a:ext cx="6019775" cy="382844"/>
            <a:chOff x="0" y="0"/>
            <a:chExt cx="3488002" cy="221829"/>
          </a:xfrm>
        </p:grpSpPr>
        <p:sp>
          <p:nvSpPr>
            <p:cNvPr name="Freeform 3" id="3"/>
            <p:cNvSpPr/>
            <p:nvPr/>
          </p:nvSpPr>
          <p:spPr>
            <a:xfrm flipH="false" flipV="false" rot="0">
              <a:off x="0" y="0"/>
              <a:ext cx="3488001" cy="221829"/>
            </a:xfrm>
            <a:custGeom>
              <a:avLst/>
              <a:gdLst/>
              <a:ahLst/>
              <a:cxnLst/>
              <a:rect r="r" b="b" t="t" l="l"/>
              <a:pathLst>
                <a:path h="221829" w="3488001">
                  <a:moveTo>
                    <a:pt x="203200" y="0"/>
                  </a:moveTo>
                  <a:lnTo>
                    <a:pt x="3284801" y="0"/>
                  </a:lnTo>
                  <a:lnTo>
                    <a:pt x="3488001" y="221829"/>
                  </a:lnTo>
                  <a:lnTo>
                    <a:pt x="0" y="221829"/>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4" id="4"/>
            <p:cNvSpPr txBox="true"/>
            <p:nvPr/>
          </p:nvSpPr>
          <p:spPr>
            <a:xfrm>
              <a:off x="127000" y="-38100"/>
              <a:ext cx="3234002" cy="25992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386738" y="6287544"/>
            <a:ext cx="12852557" cy="4883972"/>
          </a:xfrm>
          <a:custGeom>
            <a:avLst/>
            <a:gdLst/>
            <a:ahLst/>
            <a:cxnLst/>
            <a:rect r="r" b="b" t="t" l="l"/>
            <a:pathLst>
              <a:path h="4883972" w="12852557">
                <a:moveTo>
                  <a:pt x="0" y="0"/>
                </a:moveTo>
                <a:lnTo>
                  <a:pt x="12852558" y="0"/>
                </a:lnTo>
                <a:lnTo>
                  <a:pt x="12852558" y="4883972"/>
                </a:lnTo>
                <a:lnTo>
                  <a:pt x="0" y="4883972"/>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630929" y="7665939"/>
            <a:ext cx="3329303" cy="2913140"/>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1679AB">
                    <a:alpha val="100000"/>
                  </a:srgbClr>
                </a:gs>
                <a:gs pos="100000">
                  <a:srgbClr val="003D5B">
                    <a:alpha val="100000"/>
                  </a:srgbClr>
                </a:gs>
              </a:gsLst>
              <a:lin ang="0"/>
            </a:gra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659"/>
                </a:lnSpc>
              </a:pPr>
            </a:p>
          </p:txBody>
        </p:sp>
      </p:grpSp>
      <p:grpSp>
        <p:nvGrpSpPr>
          <p:cNvPr name="Group 9" id="9"/>
          <p:cNvGrpSpPr/>
          <p:nvPr/>
        </p:nvGrpSpPr>
        <p:grpSpPr>
          <a:xfrm rot="0">
            <a:off x="10236072" y="22341"/>
            <a:ext cx="8051928" cy="10376743"/>
            <a:chOff x="0" y="0"/>
            <a:chExt cx="1202271" cy="1549400"/>
          </a:xfrm>
        </p:grpSpPr>
        <p:sp>
          <p:nvSpPr>
            <p:cNvPr name="Freeform 10" id="10"/>
            <p:cNvSpPr/>
            <p:nvPr/>
          </p:nvSpPr>
          <p:spPr>
            <a:xfrm flipH="false" flipV="false" rot="0">
              <a:off x="0" y="0"/>
              <a:ext cx="1202309" cy="1549400"/>
            </a:xfrm>
            <a:custGeom>
              <a:avLst/>
              <a:gdLst/>
              <a:ahLst/>
              <a:cxnLst/>
              <a:rect r="r" b="b" t="t" l="l"/>
              <a:pathLst>
                <a:path h="1549400" w="1202309">
                  <a:moveTo>
                    <a:pt x="313309" y="0"/>
                  </a:moveTo>
                  <a:cubicBezTo>
                    <a:pt x="211709" y="172212"/>
                    <a:pt x="6731" y="518160"/>
                    <a:pt x="0" y="524891"/>
                  </a:cubicBezTo>
                  <a:lnTo>
                    <a:pt x="601091" y="1549400"/>
                  </a:lnTo>
                  <a:lnTo>
                    <a:pt x="1202309" y="1549400"/>
                  </a:lnTo>
                  <a:lnTo>
                    <a:pt x="1202309" y="0"/>
                  </a:lnTo>
                  <a:close/>
                </a:path>
              </a:pathLst>
            </a:custGeom>
            <a:blipFill>
              <a:blip r:embed="rId4"/>
              <a:stretch>
                <a:fillRect l="-2111" t="0" r="-2111" b="0"/>
              </a:stretch>
            </a:blipFill>
          </p:spPr>
        </p:sp>
      </p:grpSp>
      <p:grpSp>
        <p:nvGrpSpPr>
          <p:cNvPr name="Group 11" id="11"/>
          <p:cNvGrpSpPr/>
          <p:nvPr/>
        </p:nvGrpSpPr>
        <p:grpSpPr>
          <a:xfrm rot="-7212407">
            <a:off x="7949338" y="7980491"/>
            <a:ext cx="9204942" cy="1052080"/>
            <a:chOff x="0" y="0"/>
            <a:chExt cx="5333563" cy="609600"/>
          </a:xfrm>
        </p:grpSpPr>
        <p:sp>
          <p:nvSpPr>
            <p:cNvPr name="Freeform 12" id="12"/>
            <p:cNvSpPr/>
            <p:nvPr/>
          </p:nvSpPr>
          <p:spPr>
            <a:xfrm flipH="false" flipV="false" rot="0">
              <a:off x="0" y="0"/>
              <a:ext cx="5333563" cy="609600"/>
            </a:xfrm>
            <a:custGeom>
              <a:avLst/>
              <a:gdLst/>
              <a:ahLst/>
              <a:cxnLst/>
              <a:rect r="r" b="b" t="t" l="l"/>
              <a:pathLst>
                <a:path h="609600" w="5333563">
                  <a:moveTo>
                    <a:pt x="203200" y="0"/>
                  </a:moveTo>
                  <a:lnTo>
                    <a:pt x="5130363" y="0"/>
                  </a:lnTo>
                  <a:lnTo>
                    <a:pt x="5333563" y="609600"/>
                  </a:lnTo>
                  <a:lnTo>
                    <a:pt x="0" y="609600"/>
                  </a:lnTo>
                  <a:lnTo>
                    <a:pt x="203200" y="0"/>
                  </a:lnTo>
                  <a:close/>
                </a:path>
              </a:pathLst>
            </a:custGeom>
            <a:solidFill>
              <a:srgbClr val="102C57"/>
            </a:solidFill>
          </p:spPr>
        </p:sp>
        <p:sp>
          <p:nvSpPr>
            <p:cNvPr name="TextBox 13" id="13"/>
            <p:cNvSpPr txBox="true"/>
            <p:nvPr/>
          </p:nvSpPr>
          <p:spPr>
            <a:xfrm>
              <a:off x="127000" y="-38100"/>
              <a:ext cx="5079563" cy="6477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10800000">
            <a:off x="9144000" y="-432682"/>
            <a:ext cx="3481951" cy="2865461"/>
            <a:chOff x="0" y="0"/>
            <a:chExt cx="812800" cy="668891"/>
          </a:xfrm>
        </p:grpSpPr>
        <p:sp>
          <p:nvSpPr>
            <p:cNvPr name="Freeform 15" id="15"/>
            <p:cNvSpPr/>
            <p:nvPr/>
          </p:nvSpPr>
          <p:spPr>
            <a:xfrm flipH="false" flipV="false" rot="0">
              <a:off x="0" y="0"/>
              <a:ext cx="812800" cy="668891"/>
            </a:xfrm>
            <a:custGeom>
              <a:avLst/>
              <a:gdLst/>
              <a:ahLst/>
              <a:cxnLst/>
              <a:rect r="r" b="b" t="t" l="l"/>
              <a:pathLst>
                <a:path h="668891" w="812800">
                  <a:moveTo>
                    <a:pt x="406400" y="0"/>
                  </a:moveTo>
                  <a:lnTo>
                    <a:pt x="812800" y="668891"/>
                  </a:lnTo>
                  <a:lnTo>
                    <a:pt x="0" y="668891"/>
                  </a:lnTo>
                  <a:lnTo>
                    <a:pt x="406400" y="0"/>
                  </a:lnTo>
                  <a:close/>
                </a:path>
              </a:pathLst>
            </a:custGeom>
            <a:gradFill rotWithShape="true">
              <a:gsLst>
                <a:gs pos="0">
                  <a:srgbClr val="162F56">
                    <a:alpha val="100000"/>
                  </a:srgbClr>
                </a:gs>
                <a:gs pos="100000">
                  <a:srgbClr val="18407D">
                    <a:alpha val="100000"/>
                  </a:srgbClr>
                </a:gs>
              </a:gsLst>
              <a:lin ang="0"/>
            </a:gradFill>
          </p:spPr>
        </p:sp>
        <p:sp>
          <p:nvSpPr>
            <p:cNvPr name="TextBox 16" id="16"/>
            <p:cNvSpPr txBox="true"/>
            <p:nvPr/>
          </p:nvSpPr>
          <p:spPr>
            <a:xfrm>
              <a:off x="127000" y="272457"/>
              <a:ext cx="558800" cy="348657"/>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3859873" y="9737304"/>
            <a:ext cx="4359337" cy="975659"/>
            <a:chOff x="0" y="0"/>
            <a:chExt cx="1790672" cy="400769"/>
          </a:xfrm>
        </p:grpSpPr>
        <p:sp>
          <p:nvSpPr>
            <p:cNvPr name="Freeform 18" id="18"/>
            <p:cNvSpPr/>
            <p:nvPr/>
          </p:nvSpPr>
          <p:spPr>
            <a:xfrm flipH="false" flipV="false" rot="0">
              <a:off x="0" y="0"/>
              <a:ext cx="1790672" cy="400769"/>
            </a:xfrm>
            <a:custGeom>
              <a:avLst/>
              <a:gdLst/>
              <a:ahLst/>
              <a:cxnLst/>
              <a:rect r="r" b="b" t="t" l="l"/>
              <a:pathLst>
                <a:path h="400769" w="1790672">
                  <a:moveTo>
                    <a:pt x="203200" y="0"/>
                  </a:moveTo>
                  <a:lnTo>
                    <a:pt x="1790672" y="0"/>
                  </a:lnTo>
                  <a:lnTo>
                    <a:pt x="1587472" y="400769"/>
                  </a:lnTo>
                  <a:lnTo>
                    <a:pt x="0" y="400769"/>
                  </a:lnTo>
                  <a:lnTo>
                    <a:pt x="203200" y="0"/>
                  </a:lnTo>
                  <a:close/>
                </a:path>
              </a:pathLst>
            </a:custGeom>
            <a:gradFill rotWithShape="true">
              <a:gsLst>
                <a:gs pos="0">
                  <a:srgbClr val="1679AB">
                    <a:alpha val="100000"/>
                  </a:srgbClr>
                </a:gs>
                <a:gs pos="100000">
                  <a:srgbClr val="003D5B">
                    <a:alpha val="100000"/>
                  </a:srgbClr>
                </a:gs>
              </a:gsLst>
              <a:lin ang="0"/>
            </a:gradFill>
          </p:spPr>
        </p:sp>
        <p:sp>
          <p:nvSpPr>
            <p:cNvPr name="TextBox 19" id="19"/>
            <p:cNvSpPr txBox="true"/>
            <p:nvPr/>
          </p:nvSpPr>
          <p:spPr>
            <a:xfrm>
              <a:off x="101600" y="-38100"/>
              <a:ext cx="1587472" cy="438869"/>
            </a:xfrm>
            <a:prstGeom prst="rect">
              <a:avLst/>
            </a:prstGeom>
          </p:spPr>
          <p:txBody>
            <a:bodyPr anchor="ctr" rtlCol="false" tIns="50800" lIns="50800" bIns="50800" rIns="50800"/>
            <a:lstStyle/>
            <a:p>
              <a:pPr algn="ctr" marL="0" indent="0" lvl="0">
                <a:lnSpc>
                  <a:spcPts val="2659"/>
                </a:lnSpc>
              </a:pPr>
            </a:p>
          </p:txBody>
        </p:sp>
      </p:grpSp>
      <p:grpSp>
        <p:nvGrpSpPr>
          <p:cNvPr name="Group 20" id="20"/>
          <p:cNvGrpSpPr/>
          <p:nvPr/>
        </p:nvGrpSpPr>
        <p:grpSpPr>
          <a:xfrm rot="0">
            <a:off x="-2056786" y="9737304"/>
            <a:ext cx="6651766" cy="975659"/>
            <a:chOff x="0" y="0"/>
            <a:chExt cx="2732326" cy="400769"/>
          </a:xfrm>
        </p:grpSpPr>
        <p:sp>
          <p:nvSpPr>
            <p:cNvPr name="Freeform 21" id="21"/>
            <p:cNvSpPr/>
            <p:nvPr/>
          </p:nvSpPr>
          <p:spPr>
            <a:xfrm flipH="false" flipV="false" rot="0">
              <a:off x="0" y="0"/>
              <a:ext cx="2732326" cy="400769"/>
            </a:xfrm>
            <a:custGeom>
              <a:avLst/>
              <a:gdLst/>
              <a:ahLst/>
              <a:cxnLst/>
              <a:rect r="r" b="b" t="t" l="l"/>
              <a:pathLst>
                <a:path h="400769" w="2732326">
                  <a:moveTo>
                    <a:pt x="203200" y="0"/>
                  </a:moveTo>
                  <a:lnTo>
                    <a:pt x="2732326" y="0"/>
                  </a:lnTo>
                  <a:lnTo>
                    <a:pt x="2529126" y="400769"/>
                  </a:lnTo>
                  <a:lnTo>
                    <a:pt x="0" y="400769"/>
                  </a:lnTo>
                  <a:lnTo>
                    <a:pt x="203200" y="0"/>
                  </a:lnTo>
                  <a:close/>
                </a:path>
              </a:pathLst>
            </a:custGeom>
            <a:gradFill rotWithShape="true">
              <a:gsLst>
                <a:gs pos="0">
                  <a:srgbClr val="162F56">
                    <a:alpha val="100000"/>
                  </a:srgbClr>
                </a:gs>
                <a:gs pos="100000">
                  <a:srgbClr val="18407D">
                    <a:alpha val="100000"/>
                  </a:srgbClr>
                </a:gs>
              </a:gsLst>
              <a:lin ang="0"/>
            </a:gradFill>
          </p:spPr>
        </p:sp>
        <p:sp>
          <p:nvSpPr>
            <p:cNvPr name="TextBox 22" id="22"/>
            <p:cNvSpPr txBox="true"/>
            <p:nvPr/>
          </p:nvSpPr>
          <p:spPr>
            <a:xfrm>
              <a:off x="101600" y="-38100"/>
              <a:ext cx="2529126" cy="438869"/>
            </a:xfrm>
            <a:prstGeom prst="rect">
              <a:avLst/>
            </a:prstGeom>
          </p:spPr>
          <p:txBody>
            <a:bodyPr anchor="ctr" rtlCol="false" tIns="50800" lIns="50800" bIns="50800" rIns="50800"/>
            <a:lstStyle/>
            <a:p>
              <a:pPr algn="ctr" marL="0" indent="0" lvl="0">
                <a:lnSpc>
                  <a:spcPts val="2659"/>
                </a:lnSpc>
              </a:pPr>
            </a:p>
          </p:txBody>
        </p:sp>
      </p:grpSp>
      <p:grpSp>
        <p:nvGrpSpPr>
          <p:cNvPr name="Group 23" id="23"/>
          <p:cNvGrpSpPr/>
          <p:nvPr/>
        </p:nvGrpSpPr>
        <p:grpSpPr>
          <a:xfrm rot="0">
            <a:off x="-4919141" y="4603792"/>
            <a:ext cx="14218800" cy="807452"/>
            <a:chOff x="0" y="0"/>
            <a:chExt cx="12300216" cy="698500"/>
          </a:xfrm>
        </p:grpSpPr>
        <p:sp>
          <p:nvSpPr>
            <p:cNvPr name="Freeform 24" id="24"/>
            <p:cNvSpPr/>
            <p:nvPr/>
          </p:nvSpPr>
          <p:spPr>
            <a:xfrm flipH="false" flipV="false" rot="0">
              <a:off x="0" y="0"/>
              <a:ext cx="12300216" cy="698500"/>
            </a:xfrm>
            <a:custGeom>
              <a:avLst/>
              <a:gdLst/>
              <a:ahLst/>
              <a:cxnLst/>
              <a:rect r="r" b="b" t="t" l="l"/>
              <a:pathLst>
                <a:path h="698500" w="12300216">
                  <a:moveTo>
                    <a:pt x="12300216" y="349250"/>
                  </a:moveTo>
                  <a:lnTo>
                    <a:pt x="12097016" y="698500"/>
                  </a:lnTo>
                  <a:lnTo>
                    <a:pt x="203200" y="698500"/>
                  </a:lnTo>
                  <a:lnTo>
                    <a:pt x="0" y="349250"/>
                  </a:lnTo>
                  <a:lnTo>
                    <a:pt x="203200" y="0"/>
                  </a:lnTo>
                  <a:lnTo>
                    <a:pt x="12097016" y="0"/>
                  </a:lnTo>
                  <a:lnTo>
                    <a:pt x="12300216" y="349250"/>
                  </a:lnTo>
                  <a:close/>
                </a:path>
              </a:pathLst>
            </a:custGeom>
            <a:gradFill rotWithShape="true">
              <a:gsLst>
                <a:gs pos="0">
                  <a:srgbClr val="162F56">
                    <a:alpha val="100000"/>
                  </a:srgbClr>
                </a:gs>
                <a:gs pos="100000">
                  <a:srgbClr val="18407D">
                    <a:alpha val="100000"/>
                  </a:srgbClr>
                </a:gs>
              </a:gsLst>
              <a:lin ang="0"/>
            </a:gradFill>
          </p:spPr>
        </p:sp>
        <p:sp>
          <p:nvSpPr>
            <p:cNvPr name="TextBox 25" id="25"/>
            <p:cNvSpPr txBox="true"/>
            <p:nvPr/>
          </p:nvSpPr>
          <p:spPr>
            <a:xfrm>
              <a:off x="114300" y="-38100"/>
              <a:ext cx="12071616" cy="736600"/>
            </a:xfrm>
            <a:prstGeom prst="rect">
              <a:avLst/>
            </a:prstGeom>
          </p:spPr>
          <p:txBody>
            <a:bodyPr anchor="ctr" rtlCol="false" tIns="50800" lIns="50800" bIns="50800" rIns="50800"/>
            <a:lstStyle/>
            <a:p>
              <a:pPr algn="ctr" marL="0" indent="0" lvl="0">
                <a:lnSpc>
                  <a:spcPts val="2659"/>
                </a:lnSpc>
              </a:pPr>
            </a:p>
          </p:txBody>
        </p:sp>
      </p:grpSp>
      <p:sp>
        <p:nvSpPr>
          <p:cNvPr name="Freeform 26" id="26"/>
          <p:cNvSpPr/>
          <p:nvPr/>
        </p:nvSpPr>
        <p:spPr>
          <a:xfrm flipH="false" flipV="false" rot="0">
            <a:off x="7255342" y="1028700"/>
            <a:ext cx="963867" cy="279521"/>
          </a:xfrm>
          <a:custGeom>
            <a:avLst/>
            <a:gdLst/>
            <a:ahLst/>
            <a:cxnLst/>
            <a:rect r="r" b="b" t="t" l="l"/>
            <a:pathLst>
              <a:path h="279521" w="963867">
                <a:moveTo>
                  <a:pt x="0" y="0"/>
                </a:moveTo>
                <a:lnTo>
                  <a:pt x="963867" y="0"/>
                </a:lnTo>
                <a:lnTo>
                  <a:pt x="963867" y="279521"/>
                </a:lnTo>
                <a:lnTo>
                  <a:pt x="0" y="2795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true" flipV="false" rot="0">
            <a:off x="9025235" y="9457782"/>
            <a:ext cx="963867" cy="279521"/>
          </a:xfrm>
          <a:custGeom>
            <a:avLst/>
            <a:gdLst/>
            <a:ahLst/>
            <a:cxnLst/>
            <a:rect r="r" b="b" t="t" l="l"/>
            <a:pathLst>
              <a:path h="279521" w="963867">
                <a:moveTo>
                  <a:pt x="963868" y="0"/>
                </a:moveTo>
                <a:lnTo>
                  <a:pt x="0" y="0"/>
                </a:lnTo>
                <a:lnTo>
                  <a:pt x="0" y="279522"/>
                </a:lnTo>
                <a:lnTo>
                  <a:pt x="963868" y="279522"/>
                </a:lnTo>
                <a:lnTo>
                  <a:pt x="96386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8" id="28"/>
          <p:cNvSpPr/>
          <p:nvPr/>
        </p:nvSpPr>
        <p:spPr>
          <a:xfrm flipH="false" flipV="false" rot="0">
            <a:off x="855319" y="1168461"/>
            <a:ext cx="646329" cy="465357"/>
          </a:xfrm>
          <a:custGeom>
            <a:avLst/>
            <a:gdLst/>
            <a:ahLst/>
            <a:cxnLst/>
            <a:rect r="r" b="b" t="t" l="l"/>
            <a:pathLst>
              <a:path h="465357" w="646329">
                <a:moveTo>
                  <a:pt x="0" y="0"/>
                </a:moveTo>
                <a:lnTo>
                  <a:pt x="646329" y="0"/>
                </a:lnTo>
                <a:lnTo>
                  <a:pt x="646329" y="465356"/>
                </a:lnTo>
                <a:lnTo>
                  <a:pt x="0" y="4653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9" id="29"/>
          <p:cNvSpPr txBox="true"/>
          <p:nvPr/>
        </p:nvSpPr>
        <p:spPr>
          <a:xfrm rot="0">
            <a:off x="1671286" y="1181950"/>
            <a:ext cx="2239230" cy="381632"/>
          </a:xfrm>
          <a:prstGeom prst="rect">
            <a:avLst/>
          </a:prstGeom>
        </p:spPr>
        <p:txBody>
          <a:bodyPr anchor="t" rtlCol="false" tIns="0" lIns="0" bIns="0" rIns="0">
            <a:spAutoFit/>
          </a:bodyPr>
          <a:lstStyle/>
          <a:p>
            <a:pPr algn="l" marL="0" indent="0" lvl="0">
              <a:lnSpc>
                <a:spcPts val="3115"/>
              </a:lnSpc>
              <a:spcBef>
                <a:spcPct val="0"/>
              </a:spcBef>
            </a:pPr>
            <a:r>
              <a:rPr lang="en-US" sz="2225">
                <a:solidFill>
                  <a:srgbClr val="000000"/>
                </a:solidFill>
                <a:latin typeface="Garet"/>
                <a:ea typeface="Garet"/>
                <a:cs typeface="Garet"/>
                <a:sym typeface="Garet"/>
              </a:rPr>
              <a:t>REMS</a:t>
            </a:r>
          </a:p>
        </p:txBody>
      </p:sp>
      <p:sp>
        <p:nvSpPr>
          <p:cNvPr name="TextBox 30" id="30"/>
          <p:cNvSpPr txBox="true"/>
          <p:nvPr/>
        </p:nvSpPr>
        <p:spPr>
          <a:xfrm rot="0">
            <a:off x="855319" y="2962059"/>
            <a:ext cx="8169916" cy="1635354"/>
          </a:xfrm>
          <a:prstGeom prst="rect">
            <a:avLst/>
          </a:prstGeom>
        </p:spPr>
        <p:txBody>
          <a:bodyPr anchor="t" rtlCol="false" tIns="0" lIns="0" bIns="0" rIns="0">
            <a:spAutoFit/>
          </a:bodyPr>
          <a:lstStyle/>
          <a:p>
            <a:pPr algn="l" marL="0" indent="0" lvl="0">
              <a:lnSpc>
                <a:spcPts val="13045"/>
              </a:lnSpc>
            </a:pPr>
            <a:r>
              <a:rPr lang="en-US" b="true" sz="10606" spc="-540">
                <a:solidFill>
                  <a:srgbClr val="102C57"/>
                </a:solidFill>
                <a:latin typeface="Garet Bold"/>
                <a:ea typeface="Garet Bold"/>
                <a:cs typeface="Garet Bold"/>
                <a:sym typeface="Garet Bold"/>
              </a:rPr>
              <a:t>THANK YOU</a:t>
            </a:r>
          </a:p>
        </p:txBody>
      </p:sp>
      <p:sp>
        <p:nvSpPr>
          <p:cNvPr name="TextBox 31" id="31"/>
          <p:cNvSpPr txBox="true"/>
          <p:nvPr/>
        </p:nvSpPr>
        <p:spPr>
          <a:xfrm rot="0">
            <a:off x="2102727" y="6430419"/>
            <a:ext cx="7196931" cy="670685"/>
          </a:xfrm>
          <a:prstGeom prst="rect">
            <a:avLst/>
          </a:prstGeom>
        </p:spPr>
        <p:txBody>
          <a:bodyPr anchor="t" rtlCol="false" tIns="0" lIns="0" bIns="0" rIns="0">
            <a:spAutoFit/>
          </a:bodyPr>
          <a:lstStyle/>
          <a:p>
            <a:pPr algn="l" marL="0" indent="0" lvl="0">
              <a:lnSpc>
                <a:spcPts val="5558"/>
              </a:lnSpc>
              <a:spcBef>
                <a:spcPct val="0"/>
              </a:spcBef>
            </a:pPr>
            <a:r>
              <a:rPr lang="en-US" b="true" sz="3970">
                <a:solidFill>
                  <a:srgbClr val="000000"/>
                </a:solidFill>
                <a:latin typeface="Garet Bold"/>
                <a:ea typeface="Garet Bold"/>
                <a:cs typeface="Garet Bold"/>
                <a:sym typeface="Garet Bold"/>
              </a:rPr>
              <a:t>QUESTIONS &amp; DISCUSSION</a:t>
            </a:r>
          </a:p>
        </p:txBody>
      </p:sp>
      <p:sp>
        <p:nvSpPr>
          <p:cNvPr name="TextBox 32" id="32"/>
          <p:cNvSpPr txBox="true"/>
          <p:nvPr/>
        </p:nvSpPr>
        <p:spPr>
          <a:xfrm rot="0">
            <a:off x="855319" y="4717954"/>
            <a:ext cx="7694522" cy="505584"/>
          </a:xfrm>
          <a:prstGeom prst="rect">
            <a:avLst/>
          </a:prstGeom>
        </p:spPr>
        <p:txBody>
          <a:bodyPr anchor="t" rtlCol="false" tIns="0" lIns="0" bIns="0" rIns="0">
            <a:spAutoFit/>
          </a:bodyPr>
          <a:lstStyle/>
          <a:p>
            <a:pPr algn="l" marL="0" indent="0" lvl="0">
              <a:lnSpc>
                <a:spcPts val="4158"/>
              </a:lnSpc>
              <a:spcBef>
                <a:spcPct val="0"/>
              </a:spcBef>
            </a:pPr>
            <a:r>
              <a:rPr lang="en-US" b="true" sz="2970" spc="1238">
                <a:solidFill>
                  <a:srgbClr val="F2EEEE"/>
                </a:solidFill>
                <a:latin typeface="Garet Bold"/>
                <a:ea typeface="Garet Bold"/>
                <a:cs typeface="Garet Bold"/>
                <a:sym typeface="Garet Bold"/>
              </a:rPr>
              <a:t>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DAHUZUFvJXk</dc:identifier>
  <dcterms:modified xsi:type="dcterms:W3CDTF">2011-08-01T06:04:30Z</dcterms:modified>
  <cp:revision>1</cp:revision>
  <dc:title>Copy of Real Estate Management System (REMS) Overview</dc:title>
</cp:coreProperties>
</file>